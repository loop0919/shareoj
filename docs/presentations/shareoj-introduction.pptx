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約15分でShareOJの利用体験と採点基盤を紹介する。2026年9月22日のリポジトリを根拠とし、本番環境をこの資料作成時に再検証したものではない。</a:t>
            </a:r>
          </a:p>
          <a:p/>
          <a:p>
            <a:r>
              <a:t>根拠（基準コミット c59a2e1）:</a:t>
            </a:r>
          </a:p>
          <a:p>
            <a:r>
              <a:t>README.md</a:t>
            </a:r>
          </a:p>
          <a:p>
            <a:r>
              <a:t>web/app/pages/index.vue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ShareOJはプログラミング問題を解き、作り、共有できるオンラインジャッジ。利用者は解答者だけでなく作問者やコンテスト主催者にもなれる。4つの機能を学習と創作のつながりとして紹介する。</a:t>
            </a:r>
          </a:p>
          <a:p/>
          <a:p>
            <a:r>
              <a:t>根拠（基準コミット c59a2e1）:</a:t>
            </a:r>
          </a:p>
          <a:p>
            <a:r>
              <a:t>README.md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そのもののスクリーンショットではなく、利用の流れを示す模式図。サンプル検証と本提出は別操作。進捗は実際の採点情報から表示し、結果詳細にはケースの判定や資源使用量がある。ACなどの表示は説明用の例で、実測や本番提出の結果ではない。</a:t>
            </a:r>
          </a:p>
          <a:p/>
          <a:p>
            <a:r>
              <a:t>根拠（基準コミット c59a2e1）:</a:t>
            </a:r>
          </a:p>
          <a:p>
            <a:r>
              <a:t>web/app/components/SubmissionForm.vue</a:t>
            </a:r>
          </a:p>
          <a:p>
            <a:r>
              <a:t>web/app/components/SubmissionStatus.vue</a:t>
            </a:r>
          </a:p>
          <a:p>
            <a:r>
              <a:t>web/app/content/guides/language-guide.md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題編集画面には問題文、解説、テストケース、生成、判定コード、管理の入口がある。Markdownと数式、生成コードと入力検証、未公開問題への提出、テスター招待を組み合わせて公開前に確認できる。古いweb/READMEの未実装という記述より現行コンポーネントを優先した。</a:t>
            </a:r>
          </a:p>
          <a:p/>
          <a:p>
            <a:r>
              <a:t>根拠（基準コミット c59a2e1）:</a:t>
            </a:r>
          </a:p>
          <a:p>
            <a:r>
              <a:t>web/app/pages/problems/new.vue</a:t>
            </a:r>
          </a:p>
          <a:p>
            <a:r>
              <a:t>web/app/content/guides/generator-guide.md</a:t>
            </a:r>
          </a:p>
          <a:p>
            <a:r>
              <a:t>api/README.md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テストは主催者が開催期間、問題、配点、誤答ペナルティを設定する。公式順位は期間内にコンテストの問題ページから受け付けた提出が対象。記事は問題の解き方や学びを共有する場である。利用者数、継続率、開催実績などの定量効果は確認していないため記載しない。</a:t>
            </a:r>
          </a:p>
          <a:p/>
          <a:p>
            <a:r>
              <a:t>根拠（基準コミット c59a2e1）:</a:t>
            </a:r>
          </a:p>
          <a:p>
            <a:r>
              <a:t>web/app/pages/blog/contest-rules.vue</a:t>
            </a:r>
          </a:p>
          <a:p>
            <a:r>
              <a:t>web/app/pages/blog/new.vue</a:t>
            </a:r>
          </a:p>
          <a:p>
            <a:r>
              <a:t>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Nuxt SSRとGo APIはそれぞれAPI Gateway HTTP APIとLambdaで公開。図ではHTTP APIをノード内の説明へまとめた。Go APIとbridgeはPostgreSQLに接続し、workerはSQSとS3を介して動く。線は主な要求またはデータ移動の向きを示す。結果はbridgeからDBへ反映され、画面側がAPI経由で取得する。</a:t>
            </a:r>
          </a:p>
          <a:p/>
          <a:p>
            <a:r>
              <a:t>根拠（基準コミット c59a2e1）:</a:t>
            </a:r>
          </a:p>
          <a:p>
            <a:r>
              <a:t>infra/README.md</a:t>
            </a:r>
          </a:p>
          <a:p>
            <a:r>
              <a:t>docs/judge/execution-model.md</a:t>
            </a:r>
          </a:p>
          <a:p>
            <a:r>
              <a:t>judge/README.md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提出行が永続Outboxを兼ねる。bridgeは未配送の提出を読み、入力をS3に保存して要求をSQSへ送る。workerは入力とruntime digestを検証し、コンパイルが必要な言語では一度コンパイルした成果物をケース間で使う。進捗と最終結果を結果キューで返し、bridgeがDBへ反映する。UIのポーリングは現行SubmissionFormで1.5秒間隔。</a:t>
            </a:r>
          </a:p>
          <a:p/>
          <a:p>
            <a:r>
              <a:t>根拠（基準コミット c59a2e1）:</a:t>
            </a:r>
          </a:p>
          <a:p>
            <a:r>
              <a:t>api/internal/database/005_judge_outbox.sql</a:t>
            </a:r>
          </a:p>
          <a:p>
            <a:r>
              <a:t>api/cmd/judge-bridge/dispatch.go</a:t>
            </a:r>
          </a:p>
          <a:p>
            <a:r>
              <a:t>api/cmd/judge-bridge/results.go</a:t>
            </a:r>
          </a:p>
          <a:p>
            <a:r>
              <a:t>web/app/components/SubmissionForm.vue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SQS Standardの再配信を前提にしている。exactly-once実行を保証するという意味ではない。配送時にはFOR UPDATE SKIP LOCKEDを使用。結果は提出IDと試行IDを照合し、確定済み提出は上書きしない。進捗の逆行もSQL条件で抑える。worker停止時は可視性期限後の再配信を使い、期限を過ぎた未完了提出はdispatch時にJEへ確定する。</a:t>
            </a:r>
          </a:p>
          <a:p/>
          <a:p>
            <a:r>
              <a:t>根拠（基準コミット c59a2e1）:</a:t>
            </a:r>
          </a:p>
          <a:p>
            <a:r>
              <a:t>api/cmd/judge-bridge/dispatch.go</a:t>
            </a:r>
          </a:p>
          <a:p>
            <a:r>
              <a:t>api/cmd/judge-bridge/results.go</a:t>
            </a:r>
          </a:p>
          <a:p>
            <a:r>
              <a:t>api/internal/submissions/finish.go</a:t>
            </a:r>
          </a:p>
          <a:p>
            <a:r>
              <a:t>docs/judge/execution-model.md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通常判定の模式図。isolateは名前空間、UID、cgroup v2で提出コードを隔離する。各ケースの作業領域と子孫プロセスを回収し、コンパイル成果物だけを次ケースへ渡す。期待出力や認証情報は解答プログラム側へ渡さない。スペシャルジャッジと対話用ジャッジには、それぞれ別の隔離環境へ必要なテストデータを渡す。共有カーネルなのでVM相当の隔離とは主張しない。</a:t>
            </a:r>
          </a:p>
          <a:p/>
          <a:p>
            <a:r>
              <a:t>根拠（基準コミット c59a2e1）:</a:t>
            </a:r>
          </a:p>
          <a:p>
            <a:r>
              <a:t>judge/README.md</a:t>
            </a:r>
          </a:p>
          <a:p>
            <a:r>
              <a:t>docs/judge/execution-model.md</a:t>
            </a:r>
          </a:p>
          <a:p>
            <a:r>
              <a:t>docs/judge/interactive-judge.md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提出の問題設定はCPU時間100〜5000ms、メモリ64〜512MiB。メモリは子孫と課金対象のキャッシュを含むcgroupピークで、RSSとは区別する。通常判定の経過時間上限はCPU上限の3倍+1秒。対話形式には別の経過時間計算がある。既存2台構成は1台1提出で最大2提出。同一ホスト内でコンパイルと通常提出のケース実行を重ねない。</a:t>
            </a:r>
          </a:p>
          <a:p/>
          <a:p>
            <a:r>
              <a:t>根拠（基準コミット c59a2e1）:</a:t>
            </a:r>
          </a:p>
          <a:p>
            <a:r>
              <a:t>docs/judge/runtime-policy.md</a:t>
            </a:r>
          </a:p>
          <a:p>
            <a:r>
              <a:t>judge/README.md</a:t>
            </a:r>
          </a:p>
          <a:p>
            <a:r>
              <a:t>docs/judge/interactive-judge.md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判定は期待出力との比較、スペシャルジャッジは作問者の検証コード、対話形式は提出と対話用ジャッジの双方向通信。チェッカーとインタラクターは別の隔離環境で実行し、資源を制限する。対話では両側の正常終了を待ってACにする。スコアファイルの値の集計や部分点を提供するという意味ではない。</a:t>
            </a:r>
          </a:p>
          <a:p/>
          <a:p>
            <a:r>
              <a:t>根拠（基準コミット c59a2e1）:</a:t>
            </a:r>
          </a:p>
          <a:p>
            <a:r>
              <a:t>docs/judge/special-judge.md</a:t>
            </a:r>
          </a:p>
          <a:p>
            <a:r>
              <a:t>docs/judge/interactive-judge.md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言語一覧はリポジトリの言語ガイドに基づく例。受付可能なランタイムはGET /runtimesと提出欄が正とし、ここでは本番の公開状態を再確認していない。各言語の配布元、版、ライブラリをlockファイルで固定し、runtime名とdigestで採点条件を識別する。旧環境を保存して過去提出を再実行する仕組みは未実装。</a:t>
            </a:r>
          </a:p>
          <a:p/>
          <a:p>
            <a:r>
              <a:t>根拠（基準コミット c59a2e1）:</a:t>
            </a:r>
          </a:p>
          <a:p>
            <a:r>
              <a:t>web/app/content/guides/language-guide.md</a:t>
            </a:r>
          </a:p>
          <a:p>
            <a:r>
              <a:t>docs/judge/runtime-policy.md</a:t>
            </a:r>
          </a:p>
          <a:p>
            <a:r>
              <a:t>judge/runtimes.py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Nuxtは問題文や数式を含むHTMLをSSRする。トークンはHttpOnly Cookieに保存し、NuxtサーバーからGo APIへBearerとして渡す。Cookieを使う書き込みにはOrigin検証を適用。Markdownの生HTMLや危険なURLを抑え、KaTeXはtrust:falseで描画する。認証済みであることに加え、Go APIは所有者や公開範囲などの認可を行う。</a:t>
            </a:r>
          </a:p>
          <a:p/>
          <a:p>
            <a:r>
              <a:t>根拠（基準コミット c59a2e1）:</a:t>
            </a:r>
          </a:p>
          <a:p>
            <a:r>
              <a:t>web/README.md</a:t>
            </a:r>
          </a:p>
          <a:p>
            <a:r>
              <a:t>api/README.md</a:t>
            </a:r>
          </a:p>
          <a:p>
            <a:r>
              <a:t>web/app/utils/problem-markdown.ts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WebとAPIはGitHub Actionsで型、ビルド、ブラウザー、実DBなどを検証する。ジャッジ更新はrollout.py runに統合され、受付停止、DBとキューの排出、配布、全言語検証、起動と設定同期、受付再開、本番提出の検証まで行う。SSMへ登録しただけでは完了としない。今回の作業では配布や本番提出は実施していない。</a:t>
            </a:r>
          </a:p>
          <a:p/>
          <a:p>
            <a:r>
              <a:t>根拠（基準コミット c59a2e1）:</a:t>
            </a:r>
          </a:p>
          <a:p>
            <a:r>
              <a:t>.github/workflows/ci.yml</a:t>
            </a:r>
          </a:p>
          <a:p>
            <a:r>
              <a:t>docs/judge/deployment-checks.md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左の設計選択に対して、右に運用上の制約を対応させる。2台は既存配布対象としてドキュメントに記録されている構成であり、今回稼働状態を検査したものではない。RDS Single-AZはリポジトリの環境設定に基づく。性能やセキュリティの保証、無停止配布、無制限のスケーラビリティは主張しない。</a:t>
            </a:r>
          </a:p>
          <a:p/>
          <a:p>
            <a:r>
              <a:t>根拠（基準コミット c59a2e1）:</a:t>
            </a:r>
          </a:p>
          <a:p>
            <a:r>
              <a:t>judge/README.md</a:t>
            </a:r>
          </a:p>
          <a:p>
            <a:r>
              <a:t>infra/README.md</a:t>
            </a:r>
          </a:p>
          <a:p>
            <a:r>
              <a:t>docs/judge/runtime-policy.md</a:t>
            </a:r>
          </a:p>
          <a:p>
            <a:r>
              <a:t>docs/judge/deployment-checks.md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締めは、使う側と技術側の説明を接続する。ShareOJは問題を解くだけでなく、作問、記事、コンテストまでをつなぐ。その下で、Web/API、永続化、非同期配送、隔離実行が役割を分担している。公開サイトとリポジトリへ案内する。</a:t>
            </a:r>
          </a:p>
          <a:p/>
          <a:p>
            <a:r>
              <a:t>根拠（基準コミット c59a2e1）:</a:t>
            </a:r>
          </a:p>
          <a:p>
            <a:r>
              <a:t>README.md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スライドの発表者ノートに参照ファイルを記載した。基準コミットはc59a2e1。旧ADRや初期実装の説明と現行コードに差がある箇所は、新しい運用資料と言語ガイド、実装を優先した。数値は設定値であり、今回の負荷試験の実測結果ではない。図は説明用であり、実画面のスクリーンショットではない。</a:t>
            </a:r>
          </a:p>
          <a:p/>
          <a:p>
            <a:r>
              <a:t>根拠（基準コミット c59a2e1）:</a:t>
            </a:r>
          </a:p>
          <a:p>
            <a:r>
              <a:t>README.md</a:t>
            </a:r>
          </a:p>
          <a:p>
            <a:r>
              <a:t>docs/judge/runtime-policy.md</a:t>
            </a:r>
          </a:p>
          <a:p>
            <a:r>
              <a:t>docs/judge/deployment-checks.md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www.share-oj.n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57E3A0"/>
                </a:solidFill>
                <a:latin typeface="IPAexGothic"/>
              </a:defRPr>
            </a:pPr>
            <a:r>
              <a:rPr>
                <a:ea typeface="IPAexGothic"/>
              </a:rPr>
              <a:t>SHARE ONLINE JUDGE</a:t>
            </a:r>
          </a:p>
        </p:txBody>
      </p:sp>
      <p:cxnSp>
        <p:nvCxnSpPr>
          <p:cNvPr id="4" name="Connector 3"/>
          <p:cNvCxnSpPr/>
          <p:nvPr/>
        </p:nvCxnSpPr>
        <p:spPr>
          <a:xfrm>
            <a:off x="609600" y="6261100"/>
            <a:ext cx="10972800" cy="0"/>
          </a:xfrm>
          <a:prstGeom prst="line">
            <a:avLst/>
          </a:prstGeom>
          <a:ln w="12700">
            <a:solidFill>
              <a:srgbClr val="3D49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B7C7BF"/>
                </a:solidFill>
                <a:latin typeface="IPAexGothic"/>
              </a:defRPr>
            </a:pPr>
            <a:r>
              <a:rPr>
                <a:ea typeface="IPAexGothic"/>
              </a:rPr>
              <a:t>ShareOJ  /  Product &amp; Engineering</a:t>
            </a:r>
          </a:p>
        </p:txBody>
      </p:sp>
      <p:sp>
        <p:nvSpPr>
          <p:cNvPr id="6" name="TextBox 5"/>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B7C7BF"/>
                </a:solidFill>
                <a:latin typeface="IPAexGothic"/>
              </a:defRPr>
            </a:pPr>
            <a:r>
              <a:rPr>
                <a:ea typeface="IPAexGothic"/>
              </a:rPr>
              <a:t>01 / 17</a:t>
            </a:r>
          </a:p>
        </p:txBody>
      </p:sp>
      <p:sp>
        <p:nvSpPr>
          <p:cNvPr id="7" name="TextBox 6"/>
          <p:cNvSpPr txBox="1"/>
          <p:nvPr/>
        </p:nvSpPr>
        <p:spPr>
          <a:xfrm>
            <a:off x="609600" y="1384300"/>
            <a:ext cx="7747000" cy="1188720"/>
          </a:xfrm>
          <a:prstGeom prst="rect">
            <a:avLst/>
          </a:prstGeom>
          <a:noFill/>
        </p:spPr>
        <p:txBody>
          <a:bodyPr wrap="none" lIns="0" rIns="0" tIns="0" bIns="0">
            <a:spAutoFit/>
          </a:bodyPr>
          <a:lstStyle/>
          <a:p>
            <a:pPr>
              <a:lnSpc>
                <a:spcPts val="8960"/>
              </a:lnSpc>
              <a:spcBef>
                <a:spcPts val="0"/>
              </a:spcBef>
              <a:spcAft>
                <a:spcPts val="0"/>
              </a:spcAft>
              <a:defRPr sz="6400" b="1">
                <a:solidFill>
                  <a:srgbClr val="FFFFFF"/>
                </a:solidFill>
                <a:latin typeface="IPAexGothic"/>
              </a:defRPr>
            </a:pPr>
            <a:r>
              <a:rPr>
                <a:ea typeface="IPAexGothic"/>
              </a:rPr>
              <a:t>ShareOJ</a:t>
            </a:r>
          </a:p>
        </p:txBody>
      </p:sp>
      <p:sp>
        <p:nvSpPr>
          <p:cNvPr id="8" name="TextBox 7"/>
          <p:cNvSpPr txBox="1"/>
          <p:nvPr/>
        </p:nvSpPr>
        <p:spPr>
          <a:xfrm>
            <a:off x="609600" y="2717800"/>
            <a:ext cx="8255000" cy="1498600"/>
          </a:xfrm>
          <a:prstGeom prst="rect">
            <a:avLst/>
          </a:prstGeom>
          <a:noFill/>
        </p:spPr>
        <p:txBody>
          <a:bodyPr wrap="none" lIns="0" rIns="0" tIns="0" bIns="0">
            <a:spAutoFit/>
          </a:bodyPr>
          <a:lstStyle/>
          <a:p>
            <a:pPr>
              <a:lnSpc>
                <a:spcPts val="5700"/>
              </a:lnSpc>
              <a:spcBef>
                <a:spcPts val="0"/>
              </a:spcBef>
              <a:spcAft>
                <a:spcPts val="0"/>
              </a:spcAft>
              <a:defRPr sz="3800" b="0">
                <a:solidFill>
                  <a:srgbClr val="FFFFFF"/>
                </a:solidFill>
                <a:latin typeface="IPAexGothic"/>
              </a:defRPr>
            </a:pPr>
            <a:r>
              <a:rPr>
                <a:ea typeface="IPAexGothic"/>
              </a:rPr>
              <a:t>考える楽しさを、</a:t>
            </a:r>
          </a:p>
          <a:p>
            <a:pPr>
              <a:lnSpc>
                <a:spcPts val="5700"/>
              </a:lnSpc>
              <a:spcBef>
                <a:spcPts val="0"/>
              </a:spcBef>
              <a:spcAft>
                <a:spcPts val="0"/>
              </a:spcAft>
              <a:defRPr sz="3800" b="0">
                <a:solidFill>
                  <a:srgbClr val="FFFFFF"/>
                </a:solidFill>
                <a:latin typeface="IPAexGothic"/>
              </a:defRPr>
            </a:pPr>
            <a:r>
              <a:rPr>
                <a:ea typeface="IPAexGothic"/>
              </a:rPr>
              <a:t>次の一問へ。</a:t>
            </a:r>
          </a:p>
        </p:txBody>
      </p:sp>
      <p:sp>
        <p:nvSpPr>
          <p:cNvPr id="9" name="TextBox 8"/>
          <p:cNvSpPr txBox="1"/>
          <p:nvPr/>
        </p:nvSpPr>
        <p:spPr>
          <a:xfrm>
            <a:off x="635000" y="4660900"/>
            <a:ext cx="8001000" cy="441959"/>
          </a:xfrm>
          <a:prstGeom prst="rect">
            <a:avLst/>
          </a:prstGeom>
          <a:noFill/>
        </p:spPr>
        <p:txBody>
          <a:bodyPr wrap="none" lIns="0" rIns="0" tIns="0" bIns="0">
            <a:spAutoFit/>
          </a:bodyPr>
          <a:lstStyle/>
          <a:p>
            <a:pPr>
              <a:lnSpc>
                <a:spcPts val="3079"/>
              </a:lnSpc>
              <a:spcBef>
                <a:spcPts val="0"/>
              </a:spcBef>
              <a:spcAft>
                <a:spcPts val="0"/>
              </a:spcAft>
              <a:defRPr sz="2200" b="0">
                <a:solidFill>
                  <a:srgbClr val="C8D8D0"/>
                </a:solidFill>
                <a:latin typeface="IPAexGothic"/>
              </a:defRPr>
            </a:pPr>
            <a:r>
              <a:rPr>
                <a:ea typeface="IPAexGothic"/>
              </a:rPr>
              <a:t>プロダクト概要と技術構成</a:t>
            </a:r>
          </a:p>
        </p:txBody>
      </p:sp>
      <p:sp>
        <p:nvSpPr>
          <p:cNvPr id="10" name="TextBox 9"/>
          <p:cNvSpPr txBox="1"/>
          <p:nvPr/>
        </p:nvSpPr>
        <p:spPr>
          <a:xfrm>
            <a:off x="635000" y="5499100"/>
            <a:ext cx="9652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57E3A0"/>
                </a:solidFill>
                <a:latin typeface="IPAexGothic"/>
              </a:defRPr>
            </a:pPr>
            <a:r>
              <a:rPr>
                <a:ea typeface="IPAexGothic"/>
              </a:rPr>
              <a:t>ENGINEERING INTRODUCTION  /  2026.09.22</a:t>
            </a:r>
          </a:p>
        </p:txBody>
      </p:sp>
      <p:cxnSp>
        <p:nvCxnSpPr>
          <p:cNvPr id="11" name="Connector 10"/>
          <p:cNvCxnSpPr/>
          <p:nvPr/>
        </p:nvCxnSpPr>
        <p:spPr>
          <a:xfrm flipV="1">
            <a:off x="8661400" y="3035300"/>
            <a:ext cx="1524000" cy="1028700"/>
          </a:xfrm>
          <a:prstGeom prst="line">
            <a:avLst/>
          </a:prstGeom>
          <a:ln w="25400">
            <a:solidFill>
              <a:srgbClr val="3B554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185400" y="1714500"/>
            <a:ext cx="787400" cy="1320800"/>
          </a:xfrm>
          <a:prstGeom prst="line">
            <a:avLst/>
          </a:prstGeom>
          <a:ln w="25400">
            <a:solidFill>
              <a:srgbClr val="3B554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661400" y="2120900"/>
            <a:ext cx="406400" cy="1943100"/>
          </a:xfrm>
          <a:prstGeom prst="line">
            <a:avLst/>
          </a:prstGeom>
          <a:ln w="25400">
            <a:solidFill>
              <a:srgbClr val="3B554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067800" y="1714500"/>
            <a:ext cx="1905000" cy="406400"/>
          </a:xfrm>
          <a:prstGeom prst="line">
            <a:avLst/>
          </a:prstGeom>
          <a:ln w="25400">
            <a:solidFill>
              <a:srgbClr val="3B554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661400" y="3035300"/>
            <a:ext cx="1524000" cy="1028700"/>
          </a:xfrm>
          <a:prstGeom prst="line">
            <a:avLst/>
          </a:prstGeom>
          <a:ln w="38100">
            <a:solidFill>
              <a:srgbClr val="57E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0185400" y="1714500"/>
            <a:ext cx="787400" cy="1320800"/>
          </a:xfrm>
          <a:prstGeom prst="line">
            <a:avLst/>
          </a:prstGeom>
          <a:ln w="38100">
            <a:solidFill>
              <a:srgbClr val="57E3A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432800" y="3835400"/>
            <a:ext cx="457200" cy="457200"/>
          </a:xfrm>
          <a:prstGeom prst="ellipse">
            <a:avLst/>
          </a:prstGeom>
          <a:solidFill>
            <a:srgbClr val="57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71100" y="2921000"/>
            <a:ext cx="228600" cy="228600"/>
          </a:xfrm>
          <a:prstGeom prst="ellipse">
            <a:avLst/>
          </a:prstGeom>
          <a:solidFill>
            <a:srgbClr val="57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69600" y="1511300"/>
            <a:ext cx="406400" cy="406400"/>
          </a:xfrm>
          <a:prstGeom prst="ellipse">
            <a:avLst/>
          </a:prstGeom>
          <a:solidFill>
            <a:srgbClr val="57E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78900" y="2032000"/>
            <a:ext cx="177800" cy="177800"/>
          </a:xfrm>
          <a:prstGeom prst="ellipse">
            <a:avLst/>
          </a:prstGeom>
          <a:solidFill>
            <a:srgbClr val="3B5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01  PRODUCT</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解く経験を、次の問題と知識へ</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02 / 17</a:t>
            </a:r>
          </a:p>
        </p:txBody>
      </p:sp>
      <p:sp>
        <p:nvSpPr>
          <p:cNvPr id="8" name="TextBox 7"/>
          <p:cNvSpPr txBox="1"/>
          <p:nvPr/>
        </p:nvSpPr>
        <p:spPr>
          <a:xfrm>
            <a:off x="609600" y="2044700"/>
            <a:ext cx="2286000" cy="797560"/>
          </a:xfrm>
          <a:prstGeom prst="rect">
            <a:avLst/>
          </a:prstGeom>
          <a:noFill/>
        </p:spPr>
        <p:txBody>
          <a:bodyPr wrap="none" lIns="0" rIns="0" tIns="0" bIns="0">
            <a:spAutoFit/>
          </a:bodyPr>
          <a:lstStyle/>
          <a:p>
            <a:pPr>
              <a:lnSpc>
                <a:spcPts val="5880"/>
              </a:lnSpc>
              <a:spcBef>
                <a:spcPts val="0"/>
              </a:spcBef>
              <a:spcAft>
                <a:spcPts val="0"/>
              </a:spcAft>
              <a:defRPr sz="4200" b="0">
                <a:solidFill>
                  <a:srgbClr val="18794E"/>
                </a:solidFill>
                <a:latin typeface="IPAexGothic"/>
              </a:defRPr>
            </a:pPr>
            <a:r>
              <a:rPr>
                <a:ea typeface="IPAexGothic"/>
              </a:rPr>
              <a:t>01</a:t>
            </a:r>
          </a:p>
        </p:txBody>
      </p:sp>
      <p:cxnSp>
        <p:nvCxnSpPr>
          <p:cNvPr id="9" name="Connector 8"/>
          <p:cNvCxnSpPr/>
          <p:nvPr/>
        </p:nvCxnSpPr>
        <p:spPr>
          <a:xfrm>
            <a:off x="609600" y="2857500"/>
            <a:ext cx="24765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3136900"/>
            <a:ext cx="2489200" cy="530860"/>
          </a:xfrm>
          <a:prstGeom prst="rect">
            <a:avLst/>
          </a:prstGeom>
          <a:noFill/>
        </p:spPr>
        <p:txBody>
          <a:bodyPr wrap="none" lIns="0" rIns="0" tIns="0" bIns="0">
            <a:spAutoFit/>
          </a:bodyPr>
          <a:lstStyle/>
          <a:p>
            <a:pPr>
              <a:lnSpc>
                <a:spcPts val="3779"/>
              </a:lnSpc>
              <a:spcBef>
                <a:spcPts val="0"/>
              </a:spcBef>
              <a:spcAft>
                <a:spcPts val="0"/>
              </a:spcAft>
              <a:defRPr sz="2700" b="1">
                <a:solidFill>
                  <a:srgbClr val="192431"/>
                </a:solidFill>
                <a:latin typeface="IPAexGothic"/>
              </a:defRPr>
            </a:pPr>
            <a:r>
              <a:rPr>
                <a:ea typeface="IPAexGothic"/>
              </a:rPr>
              <a:t>解く</a:t>
            </a:r>
          </a:p>
        </p:txBody>
      </p:sp>
      <p:sp>
        <p:nvSpPr>
          <p:cNvPr id="11" name="TextBox 10"/>
          <p:cNvSpPr txBox="1"/>
          <p:nvPr/>
        </p:nvSpPr>
        <p:spPr>
          <a:xfrm>
            <a:off x="609600" y="3810000"/>
            <a:ext cx="2603500" cy="741680"/>
          </a:xfrm>
          <a:prstGeom prst="rect">
            <a:avLst/>
          </a:prstGeom>
          <a:noFill/>
        </p:spPr>
        <p:txBody>
          <a:bodyPr wrap="none" lIns="0" rIns="0" tIns="0" bIns="0">
            <a:spAutoFit/>
          </a:bodyPr>
          <a:lstStyle/>
          <a:p>
            <a:pPr>
              <a:lnSpc>
                <a:spcPts val="2720"/>
              </a:lnSpc>
              <a:spcBef>
                <a:spcPts val="0"/>
              </a:spcBef>
              <a:spcAft>
                <a:spcPts val="0"/>
              </a:spcAft>
              <a:defRPr sz="1600" b="0">
                <a:solidFill>
                  <a:srgbClr val="65717C"/>
                </a:solidFill>
                <a:latin typeface="IPAexGothic"/>
              </a:defRPr>
            </a:pPr>
            <a:r>
              <a:rPr>
                <a:ea typeface="IPAexGothic"/>
              </a:rPr>
              <a:t>コードを提出し、</a:t>
            </a:r>
          </a:p>
          <a:p>
            <a:pPr>
              <a:lnSpc>
                <a:spcPts val="2720"/>
              </a:lnSpc>
              <a:spcBef>
                <a:spcPts val="0"/>
              </a:spcBef>
              <a:spcAft>
                <a:spcPts val="0"/>
              </a:spcAft>
              <a:defRPr sz="1600" b="0">
                <a:solidFill>
                  <a:srgbClr val="65717C"/>
                </a:solidFill>
                <a:latin typeface="IPAexGothic"/>
              </a:defRPr>
            </a:pPr>
            <a:r>
              <a:rPr>
                <a:ea typeface="IPAexGothic"/>
              </a:rPr>
              <a:t>結果から解法を見直す。</a:t>
            </a:r>
          </a:p>
        </p:txBody>
      </p:sp>
      <p:sp>
        <p:nvSpPr>
          <p:cNvPr id="12" name="TextBox 11"/>
          <p:cNvSpPr txBox="1"/>
          <p:nvPr/>
        </p:nvSpPr>
        <p:spPr>
          <a:xfrm>
            <a:off x="3429000" y="2044700"/>
            <a:ext cx="2286000" cy="797560"/>
          </a:xfrm>
          <a:prstGeom prst="rect">
            <a:avLst/>
          </a:prstGeom>
          <a:noFill/>
        </p:spPr>
        <p:txBody>
          <a:bodyPr wrap="none" lIns="0" rIns="0" tIns="0" bIns="0">
            <a:spAutoFit/>
          </a:bodyPr>
          <a:lstStyle/>
          <a:p>
            <a:pPr>
              <a:lnSpc>
                <a:spcPts val="5880"/>
              </a:lnSpc>
              <a:spcBef>
                <a:spcPts val="0"/>
              </a:spcBef>
              <a:spcAft>
                <a:spcPts val="0"/>
              </a:spcAft>
              <a:defRPr sz="4200" b="0">
                <a:solidFill>
                  <a:srgbClr val="18794E"/>
                </a:solidFill>
                <a:latin typeface="IPAexGothic"/>
              </a:defRPr>
            </a:pPr>
            <a:r>
              <a:rPr>
                <a:ea typeface="IPAexGothic"/>
              </a:rPr>
              <a:t>02</a:t>
            </a:r>
          </a:p>
        </p:txBody>
      </p:sp>
      <p:cxnSp>
        <p:nvCxnSpPr>
          <p:cNvPr id="13" name="Connector 12"/>
          <p:cNvCxnSpPr/>
          <p:nvPr/>
        </p:nvCxnSpPr>
        <p:spPr>
          <a:xfrm>
            <a:off x="3429000" y="2857500"/>
            <a:ext cx="24765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29000" y="3136900"/>
            <a:ext cx="2489200" cy="530860"/>
          </a:xfrm>
          <a:prstGeom prst="rect">
            <a:avLst/>
          </a:prstGeom>
          <a:noFill/>
        </p:spPr>
        <p:txBody>
          <a:bodyPr wrap="none" lIns="0" rIns="0" tIns="0" bIns="0">
            <a:spAutoFit/>
          </a:bodyPr>
          <a:lstStyle/>
          <a:p>
            <a:pPr>
              <a:lnSpc>
                <a:spcPts val="3779"/>
              </a:lnSpc>
              <a:spcBef>
                <a:spcPts val="0"/>
              </a:spcBef>
              <a:spcAft>
                <a:spcPts val="0"/>
              </a:spcAft>
              <a:defRPr sz="2700" b="1">
                <a:solidFill>
                  <a:srgbClr val="192431"/>
                </a:solidFill>
                <a:latin typeface="IPAexGothic"/>
              </a:defRPr>
            </a:pPr>
            <a:r>
              <a:rPr>
                <a:ea typeface="IPAexGothic"/>
              </a:rPr>
              <a:t>作る</a:t>
            </a:r>
          </a:p>
        </p:txBody>
      </p:sp>
      <p:sp>
        <p:nvSpPr>
          <p:cNvPr id="15" name="TextBox 14"/>
          <p:cNvSpPr txBox="1"/>
          <p:nvPr/>
        </p:nvSpPr>
        <p:spPr>
          <a:xfrm>
            <a:off x="3429000" y="3810000"/>
            <a:ext cx="2603500" cy="741680"/>
          </a:xfrm>
          <a:prstGeom prst="rect">
            <a:avLst/>
          </a:prstGeom>
          <a:noFill/>
        </p:spPr>
        <p:txBody>
          <a:bodyPr wrap="none" lIns="0" rIns="0" tIns="0" bIns="0">
            <a:spAutoFit/>
          </a:bodyPr>
          <a:lstStyle/>
          <a:p>
            <a:pPr>
              <a:lnSpc>
                <a:spcPts val="2720"/>
              </a:lnSpc>
              <a:spcBef>
                <a:spcPts val="0"/>
              </a:spcBef>
              <a:spcAft>
                <a:spcPts val="0"/>
              </a:spcAft>
              <a:defRPr sz="1600" b="0">
                <a:solidFill>
                  <a:srgbClr val="65717C"/>
                </a:solidFill>
                <a:latin typeface="IPAexGothic"/>
              </a:defRPr>
            </a:pPr>
            <a:r>
              <a:rPr>
                <a:ea typeface="IPAexGothic"/>
              </a:rPr>
              <a:t>問題文とテストを用意し、</a:t>
            </a:r>
          </a:p>
          <a:p>
            <a:pPr>
              <a:lnSpc>
                <a:spcPts val="2720"/>
              </a:lnSpc>
              <a:spcBef>
                <a:spcPts val="0"/>
              </a:spcBef>
              <a:spcAft>
                <a:spcPts val="0"/>
              </a:spcAft>
              <a:defRPr sz="1600" b="0">
                <a:solidFill>
                  <a:srgbClr val="65717C"/>
                </a:solidFill>
                <a:latin typeface="IPAexGothic"/>
              </a:defRPr>
            </a:pPr>
            <a:r>
              <a:rPr>
                <a:ea typeface="IPAexGothic"/>
              </a:rPr>
              <a:t>自作の問題を公開する。</a:t>
            </a:r>
          </a:p>
        </p:txBody>
      </p:sp>
      <p:sp>
        <p:nvSpPr>
          <p:cNvPr id="16" name="TextBox 15"/>
          <p:cNvSpPr txBox="1"/>
          <p:nvPr/>
        </p:nvSpPr>
        <p:spPr>
          <a:xfrm>
            <a:off x="6248400" y="2044700"/>
            <a:ext cx="2286000" cy="797560"/>
          </a:xfrm>
          <a:prstGeom prst="rect">
            <a:avLst/>
          </a:prstGeom>
          <a:noFill/>
        </p:spPr>
        <p:txBody>
          <a:bodyPr wrap="none" lIns="0" rIns="0" tIns="0" bIns="0">
            <a:spAutoFit/>
          </a:bodyPr>
          <a:lstStyle/>
          <a:p>
            <a:pPr>
              <a:lnSpc>
                <a:spcPts val="5880"/>
              </a:lnSpc>
              <a:spcBef>
                <a:spcPts val="0"/>
              </a:spcBef>
              <a:spcAft>
                <a:spcPts val="0"/>
              </a:spcAft>
              <a:defRPr sz="4200" b="0">
                <a:solidFill>
                  <a:srgbClr val="18794E"/>
                </a:solidFill>
                <a:latin typeface="IPAexGothic"/>
              </a:defRPr>
            </a:pPr>
            <a:r>
              <a:rPr>
                <a:ea typeface="IPAexGothic"/>
              </a:rPr>
              <a:t>03</a:t>
            </a:r>
          </a:p>
        </p:txBody>
      </p:sp>
      <p:cxnSp>
        <p:nvCxnSpPr>
          <p:cNvPr id="17" name="Connector 16"/>
          <p:cNvCxnSpPr/>
          <p:nvPr/>
        </p:nvCxnSpPr>
        <p:spPr>
          <a:xfrm>
            <a:off x="6248400" y="2857500"/>
            <a:ext cx="24765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48400" y="3136900"/>
            <a:ext cx="2489200" cy="530860"/>
          </a:xfrm>
          <a:prstGeom prst="rect">
            <a:avLst/>
          </a:prstGeom>
          <a:noFill/>
        </p:spPr>
        <p:txBody>
          <a:bodyPr wrap="none" lIns="0" rIns="0" tIns="0" bIns="0">
            <a:spAutoFit/>
          </a:bodyPr>
          <a:lstStyle/>
          <a:p>
            <a:pPr>
              <a:lnSpc>
                <a:spcPts val="3779"/>
              </a:lnSpc>
              <a:spcBef>
                <a:spcPts val="0"/>
              </a:spcBef>
              <a:spcAft>
                <a:spcPts val="0"/>
              </a:spcAft>
              <a:defRPr sz="2700" b="1">
                <a:solidFill>
                  <a:srgbClr val="192431"/>
                </a:solidFill>
                <a:latin typeface="IPAexGothic"/>
              </a:defRPr>
            </a:pPr>
            <a:r>
              <a:rPr>
                <a:ea typeface="IPAexGothic"/>
              </a:rPr>
              <a:t>共有する</a:t>
            </a:r>
          </a:p>
        </p:txBody>
      </p:sp>
      <p:sp>
        <p:nvSpPr>
          <p:cNvPr id="19" name="TextBox 18"/>
          <p:cNvSpPr txBox="1"/>
          <p:nvPr/>
        </p:nvSpPr>
        <p:spPr>
          <a:xfrm>
            <a:off x="6248400" y="3810000"/>
            <a:ext cx="2603500" cy="741680"/>
          </a:xfrm>
          <a:prstGeom prst="rect">
            <a:avLst/>
          </a:prstGeom>
          <a:noFill/>
        </p:spPr>
        <p:txBody>
          <a:bodyPr wrap="none" lIns="0" rIns="0" tIns="0" bIns="0">
            <a:spAutoFit/>
          </a:bodyPr>
          <a:lstStyle/>
          <a:p>
            <a:pPr>
              <a:lnSpc>
                <a:spcPts val="2720"/>
              </a:lnSpc>
              <a:spcBef>
                <a:spcPts val="0"/>
              </a:spcBef>
              <a:spcAft>
                <a:spcPts val="0"/>
              </a:spcAft>
              <a:defRPr sz="1600" b="0">
                <a:solidFill>
                  <a:srgbClr val="65717C"/>
                </a:solidFill>
                <a:latin typeface="IPAexGothic"/>
              </a:defRPr>
            </a:pPr>
            <a:r>
              <a:rPr>
                <a:ea typeface="IPAexGothic"/>
              </a:rPr>
              <a:t>解き方や学んだことを</a:t>
            </a:r>
          </a:p>
          <a:p>
            <a:pPr>
              <a:lnSpc>
                <a:spcPts val="2720"/>
              </a:lnSpc>
              <a:spcBef>
                <a:spcPts val="0"/>
              </a:spcBef>
              <a:spcAft>
                <a:spcPts val="0"/>
              </a:spcAft>
              <a:defRPr sz="1600" b="0">
                <a:solidFill>
                  <a:srgbClr val="65717C"/>
                </a:solidFill>
                <a:latin typeface="IPAexGothic"/>
              </a:defRPr>
            </a:pPr>
            <a:r>
              <a:rPr>
                <a:ea typeface="IPAexGothic"/>
              </a:rPr>
              <a:t>記事として残す。</a:t>
            </a:r>
          </a:p>
        </p:txBody>
      </p:sp>
      <p:sp>
        <p:nvSpPr>
          <p:cNvPr id="20" name="TextBox 19"/>
          <p:cNvSpPr txBox="1"/>
          <p:nvPr/>
        </p:nvSpPr>
        <p:spPr>
          <a:xfrm>
            <a:off x="9067800" y="2044700"/>
            <a:ext cx="2286000" cy="797560"/>
          </a:xfrm>
          <a:prstGeom prst="rect">
            <a:avLst/>
          </a:prstGeom>
          <a:noFill/>
        </p:spPr>
        <p:txBody>
          <a:bodyPr wrap="none" lIns="0" rIns="0" tIns="0" bIns="0">
            <a:spAutoFit/>
          </a:bodyPr>
          <a:lstStyle/>
          <a:p>
            <a:pPr>
              <a:lnSpc>
                <a:spcPts val="5880"/>
              </a:lnSpc>
              <a:spcBef>
                <a:spcPts val="0"/>
              </a:spcBef>
              <a:spcAft>
                <a:spcPts val="0"/>
              </a:spcAft>
              <a:defRPr sz="4200" b="0">
                <a:solidFill>
                  <a:srgbClr val="18794E"/>
                </a:solidFill>
                <a:latin typeface="IPAexGothic"/>
              </a:defRPr>
            </a:pPr>
            <a:r>
              <a:rPr>
                <a:ea typeface="IPAexGothic"/>
              </a:rPr>
              <a:t>04</a:t>
            </a:r>
          </a:p>
        </p:txBody>
      </p:sp>
      <p:cxnSp>
        <p:nvCxnSpPr>
          <p:cNvPr id="21" name="Connector 20"/>
          <p:cNvCxnSpPr/>
          <p:nvPr/>
        </p:nvCxnSpPr>
        <p:spPr>
          <a:xfrm>
            <a:off x="9067800" y="2857500"/>
            <a:ext cx="24765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67800" y="3136900"/>
            <a:ext cx="2489200" cy="530860"/>
          </a:xfrm>
          <a:prstGeom prst="rect">
            <a:avLst/>
          </a:prstGeom>
          <a:noFill/>
        </p:spPr>
        <p:txBody>
          <a:bodyPr wrap="none" lIns="0" rIns="0" tIns="0" bIns="0">
            <a:spAutoFit/>
          </a:bodyPr>
          <a:lstStyle/>
          <a:p>
            <a:pPr>
              <a:lnSpc>
                <a:spcPts val="3779"/>
              </a:lnSpc>
              <a:spcBef>
                <a:spcPts val="0"/>
              </a:spcBef>
              <a:spcAft>
                <a:spcPts val="0"/>
              </a:spcAft>
              <a:defRPr sz="2700" b="1">
                <a:solidFill>
                  <a:srgbClr val="192431"/>
                </a:solidFill>
                <a:latin typeface="IPAexGothic"/>
              </a:defRPr>
            </a:pPr>
            <a:r>
              <a:rPr>
                <a:ea typeface="IPAexGothic"/>
              </a:rPr>
              <a:t>集まる</a:t>
            </a:r>
          </a:p>
        </p:txBody>
      </p:sp>
      <p:sp>
        <p:nvSpPr>
          <p:cNvPr id="23" name="TextBox 22"/>
          <p:cNvSpPr txBox="1"/>
          <p:nvPr/>
        </p:nvSpPr>
        <p:spPr>
          <a:xfrm>
            <a:off x="9067800" y="3810000"/>
            <a:ext cx="2603500" cy="741680"/>
          </a:xfrm>
          <a:prstGeom prst="rect">
            <a:avLst/>
          </a:prstGeom>
          <a:noFill/>
        </p:spPr>
        <p:txBody>
          <a:bodyPr wrap="none" lIns="0" rIns="0" tIns="0" bIns="0">
            <a:spAutoFit/>
          </a:bodyPr>
          <a:lstStyle/>
          <a:p>
            <a:pPr>
              <a:lnSpc>
                <a:spcPts val="2720"/>
              </a:lnSpc>
              <a:spcBef>
                <a:spcPts val="0"/>
              </a:spcBef>
              <a:spcAft>
                <a:spcPts val="0"/>
              </a:spcAft>
              <a:defRPr sz="1600" b="0">
                <a:solidFill>
                  <a:srgbClr val="65717C"/>
                </a:solidFill>
                <a:latin typeface="IPAexGothic"/>
              </a:defRPr>
            </a:pPr>
            <a:r>
              <a:rPr>
                <a:ea typeface="IPAexGothic"/>
              </a:rPr>
              <a:t>コンテストを開催し、</a:t>
            </a:r>
          </a:p>
          <a:p>
            <a:pPr>
              <a:lnSpc>
                <a:spcPts val="2720"/>
              </a:lnSpc>
              <a:spcBef>
                <a:spcPts val="0"/>
              </a:spcBef>
              <a:spcAft>
                <a:spcPts val="0"/>
              </a:spcAft>
              <a:defRPr sz="1600" b="0">
                <a:solidFill>
                  <a:srgbClr val="65717C"/>
                </a:solidFill>
                <a:latin typeface="IPAexGothic"/>
              </a:defRPr>
            </a:pPr>
            <a:r>
              <a:rPr>
                <a:ea typeface="IPAexGothic"/>
              </a:rPr>
              <a:t>同じ問題に挑戦する。</a:t>
            </a:r>
          </a:p>
        </p:txBody>
      </p:sp>
      <p:sp>
        <p:nvSpPr>
          <p:cNvPr id="24" name="TextBox 23"/>
          <p:cNvSpPr txBox="1"/>
          <p:nvPr/>
        </p:nvSpPr>
        <p:spPr>
          <a:xfrm>
            <a:off x="609600" y="5384800"/>
            <a:ext cx="10922000" cy="441959"/>
          </a:xfrm>
          <a:prstGeom prst="rect">
            <a:avLst/>
          </a:prstGeom>
          <a:noFill/>
        </p:spPr>
        <p:txBody>
          <a:bodyPr wrap="none" lIns="0" rIns="0" tIns="0" bIns="0">
            <a:spAutoFit/>
          </a:bodyPr>
          <a:lstStyle/>
          <a:p>
            <a:pPr>
              <a:lnSpc>
                <a:spcPts val="3079"/>
              </a:lnSpc>
              <a:spcBef>
                <a:spcPts val="0"/>
              </a:spcBef>
              <a:spcAft>
                <a:spcPts val="0"/>
              </a:spcAft>
              <a:defRPr sz="2200" b="0">
                <a:solidFill>
                  <a:srgbClr val="192431"/>
                </a:solidFill>
                <a:latin typeface="IPAexGothic"/>
              </a:defRPr>
            </a:pPr>
            <a:r>
              <a:rPr>
                <a:ea typeface="IPAexGothic"/>
              </a:rPr>
              <a:t>解答者から作問者へ。ひとつのサービスで活動を広げられる。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02  SOLVING</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問題を読んで、提出し、結果を確かめる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03 / 17</a:t>
            </a:r>
          </a:p>
        </p:txBody>
      </p:sp>
      <p:sp>
        <p:nvSpPr>
          <p:cNvPr id="8" name="Rectangle 7"/>
          <p:cNvSpPr/>
          <p:nvPr/>
        </p:nvSpPr>
        <p:spPr>
          <a:xfrm>
            <a:off x="609600" y="1765300"/>
            <a:ext cx="2514600" cy="660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9177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問題を読む</a:t>
            </a:r>
          </a:p>
        </p:txBody>
      </p:sp>
      <p:cxnSp>
        <p:nvCxnSpPr>
          <p:cNvPr id="10" name="Connector 9"/>
          <p:cNvCxnSpPr/>
          <p:nvPr/>
        </p:nvCxnSpPr>
        <p:spPr>
          <a:xfrm>
            <a:off x="3175000" y="2095500"/>
            <a:ext cx="1905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276337" y="20955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276337" y="20467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29000" y="1765300"/>
            <a:ext cx="2514600" cy="660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6800" y="19177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サンプル検証</a:t>
            </a:r>
          </a:p>
        </p:txBody>
      </p:sp>
      <p:cxnSp>
        <p:nvCxnSpPr>
          <p:cNvPr id="15" name="Connector 14"/>
          <p:cNvCxnSpPr/>
          <p:nvPr/>
        </p:nvCxnSpPr>
        <p:spPr>
          <a:xfrm>
            <a:off x="5994400" y="2095500"/>
            <a:ext cx="1905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095737" y="20955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6095737" y="20467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48400" y="1765300"/>
            <a:ext cx="2514600" cy="660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6200" y="19177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提出する</a:t>
            </a:r>
          </a:p>
        </p:txBody>
      </p:sp>
      <p:cxnSp>
        <p:nvCxnSpPr>
          <p:cNvPr id="20" name="Connector 19"/>
          <p:cNvCxnSpPr/>
          <p:nvPr/>
        </p:nvCxnSpPr>
        <p:spPr>
          <a:xfrm>
            <a:off x="8813800" y="2095500"/>
            <a:ext cx="1905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915137" y="20955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8915137" y="20467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067800" y="1765300"/>
            <a:ext cx="2514600" cy="660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45600" y="19177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結果を確認</a:t>
            </a:r>
          </a:p>
        </p:txBody>
      </p:sp>
      <p:sp>
        <p:nvSpPr>
          <p:cNvPr id="25" name="Rectangle 24"/>
          <p:cNvSpPr/>
          <p:nvPr/>
        </p:nvSpPr>
        <p:spPr>
          <a:xfrm>
            <a:off x="609600" y="2794000"/>
            <a:ext cx="5080000" cy="2730500"/>
          </a:xfrm>
          <a:prstGeom prst="rect">
            <a:avLst/>
          </a:prstGeom>
          <a:solidFill>
            <a:srgbClr val="192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3600" y="3035300"/>
            <a:ext cx="4445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57E3A0"/>
                </a:solidFill>
                <a:latin typeface="IPAexGothic"/>
              </a:defRPr>
            </a:pPr>
            <a:r>
              <a:rPr>
                <a:ea typeface="IPAexGothic"/>
              </a:rPr>
              <a:t>CODE  /  Python の例</a:t>
            </a:r>
          </a:p>
        </p:txBody>
      </p:sp>
      <p:sp>
        <p:nvSpPr>
          <p:cNvPr id="27" name="TextBox 26"/>
          <p:cNvSpPr txBox="1"/>
          <p:nvPr/>
        </p:nvSpPr>
        <p:spPr>
          <a:xfrm>
            <a:off x="863600" y="3594100"/>
            <a:ext cx="4533900" cy="782320"/>
          </a:xfrm>
          <a:prstGeom prst="rect">
            <a:avLst/>
          </a:prstGeom>
          <a:noFill/>
        </p:spPr>
        <p:txBody>
          <a:bodyPr wrap="none" lIns="0" rIns="0" tIns="0" bIns="0">
            <a:spAutoFit/>
          </a:bodyPr>
          <a:lstStyle/>
          <a:p>
            <a:pPr>
              <a:lnSpc>
                <a:spcPts val="2880"/>
              </a:lnSpc>
              <a:spcBef>
                <a:spcPts val="0"/>
              </a:spcBef>
              <a:spcAft>
                <a:spcPts val="0"/>
              </a:spcAft>
              <a:defRPr sz="1600" b="0">
                <a:solidFill>
                  <a:srgbClr val="FFFFFF"/>
                </a:solidFill>
                <a:latin typeface="IPAexGothic"/>
              </a:defRPr>
            </a:pPr>
            <a:r>
              <a:rPr>
                <a:ea typeface="IPAexGothic"/>
              </a:rPr>
              <a:t>a, b = map(int, input().split())</a:t>
            </a:r>
          </a:p>
          <a:p>
            <a:pPr>
              <a:lnSpc>
                <a:spcPts val="2880"/>
              </a:lnSpc>
              <a:spcBef>
                <a:spcPts val="0"/>
              </a:spcBef>
              <a:spcAft>
                <a:spcPts val="0"/>
              </a:spcAft>
              <a:defRPr sz="1600" b="0">
                <a:solidFill>
                  <a:srgbClr val="FFFFFF"/>
                </a:solidFill>
                <a:latin typeface="IPAexGothic"/>
              </a:defRPr>
            </a:pPr>
            <a:r>
              <a:rPr>
                <a:ea typeface="IPAexGothic"/>
              </a:rPr>
              <a:t>print(a + b)</a:t>
            </a:r>
          </a:p>
        </p:txBody>
      </p:sp>
      <p:sp>
        <p:nvSpPr>
          <p:cNvPr id="28" name="TextBox 27"/>
          <p:cNvSpPr txBox="1"/>
          <p:nvPr/>
        </p:nvSpPr>
        <p:spPr>
          <a:xfrm>
            <a:off x="863600" y="4940300"/>
            <a:ext cx="45466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B7C7BF"/>
                </a:solidFill>
                <a:latin typeface="IPAexGothic"/>
              </a:defRPr>
            </a:pPr>
            <a:r>
              <a:rPr>
                <a:ea typeface="IPAexGothic"/>
              </a:rPr>
              <a:t>標準入力 → プログラム → 標準出力</a:t>
            </a:r>
          </a:p>
        </p:txBody>
      </p:sp>
      <p:sp>
        <p:nvSpPr>
          <p:cNvPr id="29" name="TextBox 28"/>
          <p:cNvSpPr txBox="1"/>
          <p:nvPr/>
        </p:nvSpPr>
        <p:spPr>
          <a:xfrm>
            <a:off x="6223000" y="2971800"/>
            <a:ext cx="5080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8794E"/>
                </a:solidFill>
                <a:latin typeface="IPAexGothic"/>
              </a:defRPr>
            </a:pPr>
            <a:r>
              <a:rPr>
                <a:ea typeface="IPAexGothic"/>
              </a:rPr>
              <a:t>RESULT  /  表示内容の例</a:t>
            </a:r>
          </a:p>
        </p:txBody>
      </p:sp>
      <p:sp>
        <p:nvSpPr>
          <p:cNvPr id="30" name="TextBox 29"/>
          <p:cNvSpPr txBox="1"/>
          <p:nvPr/>
        </p:nvSpPr>
        <p:spPr>
          <a:xfrm>
            <a:off x="6223000" y="3492500"/>
            <a:ext cx="787400" cy="441959"/>
          </a:xfrm>
          <a:prstGeom prst="rect">
            <a:avLst/>
          </a:prstGeom>
          <a:noFill/>
        </p:spPr>
        <p:txBody>
          <a:bodyPr wrap="none" lIns="0" rIns="0" tIns="0" bIns="0">
            <a:spAutoFit/>
          </a:bodyPr>
          <a:lstStyle/>
          <a:p>
            <a:pPr>
              <a:lnSpc>
                <a:spcPts val="3079"/>
              </a:lnSpc>
              <a:spcBef>
                <a:spcPts val="0"/>
              </a:spcBef>
              <a:spcAft>
                <a:spcPts val="0"/>
              </a:spcAft>
              <a:defRPr sz="2200" b="1">
                <a:solidFill>
                  <a:srgbClr val="18794E"/>
                </a:solidFill>
                <a:latin typeface="IPAexGothic"/>
              </a:defRPr>
            </a:pPr>
            <a:r>
              <a:rPr>
                <a:ea typeface="IPAexGothic"/>
              </a:rPr>
              <a:t>AC</a:t>
            </a:r>
          </a:p>
        </p:txBody>
      </p:sp>
      <p:sp>
        <p:nvSpPr>
          <p:cNvPr id="31" name="TextBox 30"/>
          <p:cNvSpPr txBox="1"/>
          <p:nvPr/>
        </p:nvSpPr>
        <p:spPr>
          <a:xfrm>
            <a:off x="7277100" y="3530600"/>
            <a:ext cx="42291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正解</a:t>
            </a:r>
          </a:p>
        </p:txBody>
      </p:sp>
      <p:cxnSp>
        <p:nvCxnSpPr>
          <p:cNvPr id="32" name="Connector 31"/>
          <p:cNvCxnSpPr/>
          <p:nvPr/>
        </p:nvCxnSpPr>
        <p:spPr>
          <a:xfrm>
            <a:off x="6223000" y="4000500"/>
            <a:ext cx="53594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223000" y="4165600"/>
            <a:ext cx="787400" cy="441959"/>
          </a:xfrm>
          <a:prstGeom prst="rect">
            <a:avLst/>
          </a:prstGeom>
          <a:noFill/>
        </p:spPr>
        <p:txBody>
          <a:bodyPr wrap="none" lIns="0" rIns="0" tIns="0" bIns="0">
            <a:spAutoFit/>
          </a:bodyPr>
          <a:lstStyle/>
          <a:p>
            <a:pPr>
              <a:lnSpc>
                <a:spcPts val="3079"/>
              </a:lnSpc>
              <a:spcBef>
                <a:spcPts val="0"/>
              </a:spcBef>
              <a:spcAft>
                <a:spcPts val="0"/>
              </a:spcAft>
              <a:defRPr sz="2200" b="1">
                <a:solidFill>
                  <a:srgbClr val="192431"/>
                </a:solidFill>
                <a:latin typeface="IPAexGothic"/>
              </a:defRPr>
            </a:pPr>
            <a:r>
              <a:rPr>
                <a:ea typeface="IPAexGothic"/>
              </a:rPr>
              <a:t>WA</a:t>
            </a:r>
          </a:p>
        </p:txBody>
      </p:sp>
      <p:sp>
        <p:nvSpPr>
          <p:cNvPr id="34" name="TextBox 33"/>
          <p:cNvSpPr txBox="1"/>
          <p:nvPr/>
        </p:nvSpPr>
        <p:spPr>
          <a:xfrm>
            <a:off x="7277100" y="4203700"/>
            <a:ext cx="42291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出力が条件を満たさない</a:t>
            </a:r>
          </a:p>
        </p:txBody>
      </p:sp>
      <p:cxnSp>
        <p:nvCxnSpPr>
          <p:cNvPr id="35" name="Connector 34"/>
          <p:cNvCxnSpPr/>
          <p:nvPr/>
        </p:nvCxnSpPr>
        <p:spPr>
          <a:xfrm>
            <a:off x="6223000" y="4673600"/>
            <a:ext cx="53594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23000" y="4838700"/>
            <a:ext cx="787400" cy="441959"/>
          </a:xfrm>
          <a:prstGeom prst="rect">
            <a:avLst/>
          </a:prstGeom>
          <a:noFill/>
        </p:spPr>
        <p:txBody>
          <a:bodyPr wrap="none" lIns="0" rIns="0" tIns="0" bIns="0">
            <a:spAutoFit/>
          </a:bodyPr>
          <a:lstStyle/>
          <a:p>
            <a:pPr>
              <a:lnSpc>
                <a:spcPts val="3079"/>
              </a:lnSpc>
              <a:spcBef>
                <a:spcPts val="0"/>
              </a:spcBef>
              <a:spcAft>
                <a:spcPts val="0"/>
              </a:spcAft>
              <a:defRPr sz="2200" b="1">
                <a:solidFill>
                  <a:srgbClr val="192431"/>
                </a:solidFill>
                <a:latin typeface="IPAexGothic"/>
              </a:defRPr>
            </a:pPr>
            <a:r>
              <a:rPr>
                <a:ea typeface="IPAexGothic"/>
              </a:rPr>
              <a:t>TLE</a:t>
            </a:r>
          </a:p>
        </p:txBody>
      </p:sp>
      <p:sp>
        <p:nvSpPr>
          <p:cNvPr id="37" name="TextBox 36"/>
          <p:cNvSpPr txBox="1"/>
          <p:nvPr/>
        </p:nvSpPr>
        <p:spPr>
          <a:xfrm>
            <a:off x="7277100" y="4876800"/>
            <a:ext cx="42291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実行時間の制限を超過</a:t>
            </a:r>
          </a:p>
        </p:txBody>
      </p:sp>
      <p:cxnSp>
        <p:nvCxnSpPr>
          <p:cNvPr id="38" name="Connector 37"/>
          <p:cNvCxnSpPr/>
          <p:nvPr/>
        </p:nvCxnSpPr>
        <p:spPr>
          <a:xfrm>
            <a:off x="6223000" y="5346700"/>
            <a:ext cx="53594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03  AUTHORING</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作問を支える編集と検証</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04 / 17</a:t>
            </a:r>
          </a:p>
        </p:txBody>
      </p:sp>
      <p:sp>
        <p:nvSpPr>
          <p:cNvPr id="8" name="TextBox 7"/>
          <p:cNvSpPr txBox="1"/>
          <p:nvPr/>
        </p:nvSpPr>
        <p:spPr>
          <a:xfrm>
            <a:off x="609600" y="1943100"/>
            <a:ext cx="2286000" cy="690880"/>
          </a:xfrm>
          <a:prstGeom prst="rect">
            <a:avLst/>
          </a:prstGeom>
          <a:noFill/>
        </p:spPr>
        <p:txBody>
          <a:bodyPr wrap="none" lIns="0" rIns="0" tIns="0" bIns="0">
            <a:spAutoFit/>
          </a:bodyPr>
          <a:lstStyle/>
          <a:p>
            <a:pPr>
              <a:lnSpc>
                <a:spcPts val="5040"/>
              </a:lnSpc>
              <a:spcBef>
                <a:spcPts val="0"/>
              </a:spcBef>
              <a:spcAft>
                <a:spcPts val="0"/>
              </a:spcAft>
              <a:defRPr sz="3600" b="0">
                <a:solidFill>
                  <a:srgbClr val="18794E"/>
                </a:solidFill>
                <a:latin typeface="IPAexGothic"/>
              </a:defRPr>
            </a:pPr>
            <a:r>
              <a:rPr>
                <a:ea typeface="IPAexGothic"/>
              </a:rPr>
              <a:t>書く</a:t>
            </a:r>
          </a:p>
        </p:txBody>
      </p:sp>
      <p:sp>
        <p:nvSpPr>
          <p:cNvPr id="9" name="TextBox 8"/>
          <p:cNvSpPr txBox="1"/>
          <p:nvPr/>
        </p:nvSpPr>
        <p:spPr>
          <a:xfrm>
            <a:off x="3175000" y="1993900"/>
            <a:ext cx="8001000" cy="833119"/>
          </a:xfrm>
          <a:prstGeom prst="rect">
            <a:avLst/>
          </a:prstGeom>
          <a:noFill/>
        </p:spPr>
        <p:txBody>
          <a:bodyPr wrap="none" lIns="0" rIns="0" tIns="0" bIns="0">
            <a:spAutoFit/>
          </a:bodyPr>
          <a:lstStyle/>
          <a:p>
            <a:pPr>
              <a:lnSpc>
                <a:spcPts val="3079"/>
              </a:lnSpc>
              <a:spcBef>
                <a:spcPts val="0"/>
              </a:spcBef>
              <a:spcAft>
                <a:spcPts val="0"/>
              </a:spcAft>
              <a:defRPr sz="2200" b="0">
                <a:solidFill>
                  <a:srgbClr val="192431"/>
                </a:solidFill>
                <a:latin typeface="IPAexGothic"/>
              </a:defRPr>
            </a:pPr>
            <a:r>
              <a:rPr>
                <a:ea typeface="IPAexGothic"/>
              </a:rPr>
              <a:t>Markdownと数式で</a:t>
            </a:r>
          </a:p>
          <a:p>
            <a:pPr>
              <a:lnSpc>
                <a:spcPts val="3079"/>
              </a:lnSpc>
              <a:spcBef>
                <a:spcPts val="0"/>
              </a:spcBef>
              <a:spcAft>
                <a:spcPts val="0"/>
              </a:spcAft>
              <a:defRPr sz="2200" b="0">
                <a:solidFill>
                  <a:srgbClr val="192431"/>
                </a:solidFill>
                <a:latin typeface="IPAexGothic"/>
              </a:defRPr>
            </a:pPr>
            <a:r>
              <a:rPr>
                <a:ea typeface="IPAexGothic"/>
              </a:rPr>
              <a:t>問題文と解説を編集</a:t>
            </a:r>
          </a:p>
        </p:txBody>
      </p:sp>
      <p:cxnSp>
        <p:nvCxnSpPr>
          <p:cNvPr id="10" name="Connector 9"/>
          <p:cNvCxnSpPr/>
          <p:nvPr/>
        </p:nvCxnSpPr>
        <p:spPr>
          <a:xfrm>
            <a:off x="609600" y="29718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263900"/>
            <a:ext cx="2540000" cy="690880"/>
          </a:xfrm>
          <a:prstGeom prst="rect">
            <a:avLst/>
          </a:prstGeom>
          <a:noFill/>
        </p:spPr>
        <p:txBody>
          <a:bodyPr wrap="none" lIns="0" rIns="0" tIns="0" bIns="0">
            <a:spAutoFit/>
          </a:bodyPr>
          <a:lstStyle/>
          <a:p>
            <a:pPr>
              <a:lnSpc>
                <a:spcPts val="5040"/>
              </a:lnSpc>
              <a:spcBef>
                <a:spcPts val="0"/>
              </a:spcBef>
              <a:spcAft>
                <a:spcPts val="0"/>
              </a:spcAft>
              <a:defRPr sz="3600" b="0">
                <a:solidFill>
                  <a:srgbClr val="18794E"/>
                </a:solidFill>
                <a:latin typeface="IPAexGothic"/>
              </a:defRPr>
            </a:pPr>
            <a:r>
              <a:rPr>
                <a:ea typeface="IPAexGothic"/>
              </a:rPr>
              <a:t>確かめる</a:t>
            </a:r>
          </a:p>
        </p:txBody>
      </p:sp>
      <p:sp>
        <p:nvSpPr>
          <p:cNvPr id="12" name="TextBox 11"/>
          <p:cNvSpPr txBox="1"/>
          <p:nvPr/>
        </p:nvSpPr>
        <p:spPr>
          <a:xfrm>
            <a:off x="3175000" y="3251200"/>
            <a:ext cx="8382000" cy="79756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テストケース、生成コード、入力検証を用意</a:t>
            </a:r>
          </a:p>
          <a:p>
            <a:pPr>
              <a:lnSpc>
                <a:spcPts val="2940"/>
              </a:lnSpc>
              <a:spcBef>
                <a:spcPts val="0"/>
              </a:spcBef>
              <a:spcAft>
                <a:spcPts val="0"/>
              </a:spcAft>
              <a:defRPr sz="2100" b="0">
                <a:solidFill>
                  <a:srgbClr val="192431"/>
                </a:solidFill>
                <a:latin typeface="IPAexGothic"/>
              </a:defRPr>
            </a:pPr>
            <a:r>
              <a:rPr>
                <a:ea typeface="IPAexGothic"/>
              </a:rPr>
              <a:t>未公開のまま提出し、テスターと確認</a:t>
            </a:r>
          </a:p>
        </p:txBody>
      </p:sp>
      <p:cxnSp>
        <p:nvCxnSpPr>
          <p:cNvPr id="13" name="Connector 12"/>
          <p:cNvCxnSpPr/>
          <p:nvPr/>
        </p:nvCxnSpPr>
        <p:spPr>
          <a:xfrm>
            <a:off x="609600" y="42926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4584700"/>
            <a:ext cx="2540000" cy="690880"/>
          </a:xfrm>
          <a:prstGeom prst="rect">
            <a:avLst/>
          </a:prstGeom>
          <a:noFill/>
        </p:spPr>
        <p:txBody>
          <a:bodyPr wrap="none" lIns="0" rIns="0" tIns="0" bIns="0">
            <a:spAutoFit/>
          </a:bodyPr>
          <a:lstStyle/>
          <a:p>
            <a:pPr>
              <a:lnSpc>
                <a:spcPts val="5040"/>
              </a:lnSpc>
              <a:spcBef>
                <a:spcPts val="0"/>
              </a:spcBef>
              <a:spcAft>
                <a:spcPts val="0"/>
              </a:spcAft>
              <a:defRPr sz="3600" b="0">
                <a:solidFill>
                  <a:srgbClr val="18794E"/>
                </a:solidFill>
                <a:latin typeface="IPAexGothic"/>
              </a:defRPr>
            </a:pPr>
            <a:r>
              <a:rPr>
                <a:ea typeface="IPAexGothic"/>
              </a:rPr>
              <a:t>公開する</a:t>
            </a:r>
          </a:p>
        </p:txBody>
      </p:sp>
      <p:sp>
        <p:nvSpPr>
          <p:cNvPr id="15" name="TextBox 14"/>
          <p:cNvSpPr txBox="1"/>
          <p:nvPr/>
        </p:nvSpPr>
        <p:spPr>
          <a:xfrm>
            <a:off x="3175000" y="4572000"/>
            <a:ext cx="8382000" cy="79756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問題を公開、またはコンテストへ登録</a:t>
            </a:r>
          </a:p>
          <a:p>
            <a:pPr>
              <a:lnSpc>
                <a:spcPts val="2940"/>
              </a:lnSpc>
              <a:spcBef>
                <a:spcPts val="0"/>
              </a:spcBef>
              <a:spcAft>
                <a:spcPts val="0"/>
              </a:spcAft>
              <a:defRPr sz="2100" b="0">
                <a:solidFill>
                  <a:srgbClr val="192431"/>
                </a:solidFill>
                <a:latin typeface="IPAexGothic"/>
              </a:defRPr>
            </a:pPr>
            <a:r>
              <a:rPr>
                <a:ea typeface="IPAexGothic"/>
              </a:rPr>
              <a:t>提出時の問題と採点条件を記録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04  COMMUNITY</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コンテストと記事で、学びを共有する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05 / 17</a:t>
            </a:r>
          </a:p>
        </p:txBody>
      </p:sp>
      <p:sp>
        <p:nvSpPr>
          <p:cNvPr id="8" name="TextBox 7"/>
          <p:cNvSpPr txBox="1"/>
          <p:nvPr/>
        </p:nvSpPr>
        <p:spPr>
          <a:xfrm>
            <a:off x="609600" y="1892300"/>
            <a:ext cx="49530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8794E"/>
                </a:solidFill>
                <a:latin typeface="IPAexGothic"/>
              </a:defRPr>
            </a:pPr>
            <a:r>
              <a:rPr>
                <a:ea typeface="IPAexGothic"/>
              </a:rPr>
              <a:t>CONTEST</a:t>
            </a:r>
          </a:p>
        </p:txBody>
      </p:sp>
      <p:sp>
        <p:nvSpPr>
          <p:cNvPr id="9" name="TextBox 8"/>
          <p:cNvSpPr txBox="1"/>
          <p:nvPr/>
        </p:nvSpPr>
        <p:spPr>
          <a:xfrm>
            <a:off x="609600" y="2324100"/>
            <a:ext cx="5143500" cy="566419"/>
          </a:xfrm>
          <a:prstGeom prst="rect">
            <a:avLst/>
          </a:prstGeom>
          <a:noFill/>
        </p:spPr>
        <p:txBody>
          <a:bodyPr wrap="none" lIns="0" rIns="0" tIns="0" bIns="0">
            <a:spAutoFit/>
          </a:bodyPr>
          <a:lstStyle/>
          <a:p>
            <a:pPr>
              <a:lnSpc>
                <a:spcPts val="4059"/>
              </a:lnSpc>
              <a:spcBef>
                <a:spcPts val="0"/>
              </a:spcBef>
              <a:spcAft>
                <a:spcPts val="0"/>
              </a:spcAft>
              <a:defRPr sz="2900" b="1">
                <a:solidFill>
                  <a:srgbClr val="192431"/>
                </a:solidFill>
                <a:latin typeface="IPAexGothic"/>
              </a:defRPr>
            </a:pPr>
            <a:r>
              <a:rPr>
                <a:ea typeface="IPAexGothic"/>
              </a:rPr>
              <a:t>同じ問題に挑む場</a:t>
            </a:r>
          </a:p>
        </p:txBody>
      </p:sp>
      <p:sp>
        <p:nvSpPr>
          <p:cNvPr id="10" name="TextBox 9"/>
          <p:cNvSpPr txBox="1"/>
          <p:nvPr/>
        </p:nvSpPr>
        <p:spPr>
          <a:xfrm>
            <a:off x="609600" y="3213100"/>
            <a:ext cx="5257800" cy="1426210"/>
          </a:xfrm>
          <a:prstGeom prst="rect">
            <a:avLst/>
          </a:prstGeom>
          <a:noFill/>
        </p:spPr>
        <p:txBody>
          <a:bodyPr wrap="none" lIns="0" rIns="0" tIns="0" bIns="0">
            <a:spAutoFit/>
          </a:bodyPr>
          <a:lstStyle/>
          <a:p>
            <a:pPr>
              <a:lnSpc>
                <a:spcPts val="3610"/>
              </a:lnSpc>
              <a:spcBef>
                <a:spcPts val="0"/>
              </a:spcBef>
              <a:spcAft>
                <a:spcPts val="0"/>
              </a:spcAft>
              <a:defRPr sz="1900" b="0">
                <a:solidFill>
                  <a:srgbClr val="192431"/>
                </a:solidFill>
                <a:latin typeface="IPAexGothic"/>
              </a:defRPr>
            </a:pPr>
            <a:r>
              <a:rPr>
                <a:ea typeface="IPAexGothic"/>
              </a:rPr>
              <a:t>開催期間、問題、配点を設定</a:t>
            </a:r>
          </a:p>
          <a:p>
            <a:pPr>
              <a:lnSpc>
                <a:spcPts val="3610"/>
              </a:lnSpc>
              <a:spcBef>
                <a:spcPts val="0"/>
              </a:spcBef>
              <a:spcAft>
                <a:spcPts val="0"/>
              </a:spcAft>
              <a:defRPr sz="1900" b="0">
                <a:solidFill>
                  <a:srgbClr val="192431"/>
                </a:solidFill>
                <a:latin typeface="IPAexGothic"/>
              </a:defRPr>
            </a:pPr>
            <a:r>
              <a:rPr>
                <a:ea typeface="IPAexGothic"/>
              </a:rPr>
              <a:t>得点とペナルティで順位を表示</a:t>
            </a:r>
          </a:p>
          <a:p>
            <a:pPr>
              <a:lnSpc>
                <a:spcPts val="3610"/>
              </a:lnSpc>
              <a:spcBef>
                <a:spcPts val="0"/>
              </a:spcBef>
              <a:spcAft>
                <a:spcPts val="0"/>
              </a:spcAft>
              <a:defRPr sz="1900" b="0">
                <a:solidFill>
                  <a:srgbClr val="192431"/>
                </a:solidFill>
                <a:latin typeface="IPAexGothic"/>
              </a:defRPr>
            </a:pPr>
            <a:r>
              <a:rPr>
                <a:ea typeface="IPAexGothic"/>
              </a:rPr>
              <a:t>終了後は問題と登録済み解説を公開</a:t>
            </a:r>
          </a:p>
        </p:txBody>
      </p:sp>
      <p:cxnSp>
        <p:nvCxnSpPr>
          <p:cNvPr id="11" name="Connector 10"/>
          <p:cNvCxnSpPr/>
          <p:nvPr/>
        </p:nvCxnSpPr>
        <p:spPr>
          <a:xfrm>
            <a:off x="5994400" y="1930400"/>
            <a:ext cx="0" cy="340360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78600" y="1892300"/>
            <a:ext cx="49530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8794E"/>
                </a:solidFill>
                <a:latin typeface="IPAexGothic"/>
              </a:defRPr>
            </a:pPr>
            <a:r>
              <a:rPr>
                <a:ea typeface="IPAexGothic"/>
              </a:rPr>
              <a:t>ARTICLE</a:t>
            </a:r>
          </a:p>
        </p:txBody>
      </p:sp>
      <p:sp>
        <p:nvSpPr>
          <p:cNvPr id="13" name="TextBox 12"/>
          <p:cNvSpPr txBox="1"/>
          <p:nvPr/>
        </p:nvSpPr>
        <p:spPr>
          <a:xfrm>
            <a:off x="6578600" y="2324100"/>
            <a:ext cx="5003800" cy="566419"/>
          </a:xfrm>
          <a:prstGeom prst="rect">
            <a:avLst/>
          </a:prstGeom>
          <a:noFill/>
        </p:spPr>
        <p:txBody>
          <a:bodyPr wrap="none" lIns="0" rIns="0" tIns="0" bIns="0">
            <a:spAutoFit/>
          </a:bodyPr>
          <a:lstStyle/>
          <a:p>
            <a:pPr>
              <a:lnSpc>
                <a:spcPts val="4059"/>
              </a:lnSpc>
              <a:spcBef>
                <a:spcPts val="0"/>
              </a:spcBef>
              <a:spcAft>
                <a:spcPts val="0"/>
              </a:spcAft>
              <a:defRPr sz="2900" b="1">
                <a:solidFill>
                  <a:srgbClr val="192431"/>
                </a:solidFill>
                <a:latin typeface="IPAexGothic"/>
              </a:defRPr>
            </a:pPr>
            <a:r>
              <a:rPr>
                <a:ea typeface="IPAexGothic"/>
              </a:rPr>
              <a:t>考え方を残す場</a:t>
            </a:r>
          </a:p>
        </p:txBody>
      </p:sp>
      <p:sp>
        <p:nvSpPr>
          <p:cNvPr id="14" name="TextBox 13"/>
          <p:cNvSpPr txBox="1"/>
          <p:nvPr/>
        </p:nvSpPr>
        <p:spPr>
          <a:xfrm>
            <a:off x="6578600" y="3213100"/>
            <a:ext cx="5003800" cy="1426210"/>
          </a:xfrm>
          <a:prstGeom prst="rect">
            <a:avLst/>
          </a:prstGeom>
          <a:noFill/>
        </p:spPr>
        <p:txBody>
          <a:bodyPr wrap="none" lIns="0" rIns="0" tIns="0" bIns="0">
            <a:spAutoFit/>
          </a:bodyPr>
          <a:lstStyle/>
          <a:p>
            <a:pPr>
              <a:lnSpc>
                <a:spcPts val="3610"/>
              </a:lnSpc>
              <a:spcBef>
                <a:spcPts val="0"/>
              </a:spcBef>
              <a:spcAft>
                <a:spcPts val="0"/>
              </a:spcAft>
              <a:defRPr sz="1900" b="0">
                <a:solidFill>
                  <a:srgbClr val="192431"/>
                </a:solidFill>
                <a:latin typeface="IPAexGothic"/>
              </a:defRPr>
            </a:pPr>
            <a:r>
              <a:rPr>
                <a:ea typeface="IPAexGothic"/>
              </a:rPr>
              <a:t>解き方や学んだことを記事にする</a:t>
            </a:r>
          </a:p>
          <a:p>
            <a:pPr>
              <a:lnSpc>
                <a:spcPts val="3610"/>
              </a:lnSpc>
              <a:spcBef>
                <a:spcPts val="0"/>
              </a:spcBef>
              <a:spcAft>
                <a:spcPts val="0"/>
              </a:spcAft>
              <a:defRPr sz="1900" b="0">
                <a:solidFill>
                  <a:srgbClr val="192431"/>
                </a:solidFill>
                <a:latin typeface="IPAexGothic"/>
              </a:defRPr>
            </a:pPr>
            <a:r>
              <a:rPr>
                <a:ea typeface="IPAexGothic"/>
              </a:rPr>
              <a:t>問題に取り組む人が読める</a:t>
            </a:r>
          </a:p>
          <a:p>
            <a:pPr>
              <a:lnSpc>
                <a:spcPts val="3610"/>
              </a:lnSpc>
              <a:spcBef>
                <a:spcPts val="0"/>
              </a:spcBef>
              <a:spcAft>
                <a:spcPts val="0"/>
              </a:spcAft>
              <a:defRPr sz="1900" b="0">
                <a:solidFill>
                  <a:srgbClr val="192431"/>
                </a:solidFill>
                <a:latin typeface="IPAexGothic"/>
              </a:defRPr>
            </a:pPr>
            <a:r>
              <a:rPr>
                <a:ea typeface="IPAexGothic"/>
              </a:rPr>
              <a:t>解答の先にある理解を共有する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05  ARCHITECTURE</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Webと採点基盤を分けた全体構成</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06 / 17</a:t>
            </a:r>
          </a:p>
        </p:txBody>
      </p:sp>
      <p:sp>
        <p:nvSpPr>
          <p:cNvPr id="8" name="Rectangle 7"/>
          <p:cNvSpPr/>
          <p:nvPr/>
        </p:nvSpPr>
        <p:spPr>
          <a:xfrm>
            <a:off x="609600" y="18034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19558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Browser</a:t>
            </a:r>
          </a:p>
        </p:txBody>
      </p:sp>
      <p:sp>
        <p:nvSpPr>
          <p:cNvPr id="10" name="TextBox 9"/>
          <p:cNvSpPr txBox="1"/>
          <p:nvPr/>
        </p:nvSpPr>
        <p:spPr>
          <a:xfrm>
            <a:off x="787400" y="23495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閲覧 / 編集 / 提出</a:t>
            </a:r>
          </a:p>
        </p:txBody>
      </p:sp>
      <p:sp>
        <p:nvSpPr>
          <p:cNvPr id="11" name="Rectangle 10"/>
          <p:cNvSpPr/>
          <p:nvPr/>
        </p:nvSpPr>
        <p:spPr>
          <a:xfrm>
            <a:off x="3429000" y="18034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6800" y="19558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Nuxt 4 + TS</a:t>
            </a:r>
          </a:p>
        </p:txBody>
      </p:sp>
      <p:sp>
        <p:nvSpPr>
          <p:cNvPr id="13" name="TextBox 12"/>
          <p:cNvSpPr txBox="1"/>
          <p:nvPr/>
        </p:nvSpPr>
        <p:spPr>
          <a:xfrm>
            <a:off x="3606800" y="23495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SSR / HTTP API + Lambda</a:t>
            </a:r>
          </a:p>
        </p:txBody>
      </p:sp>
      <p:sp>
        <p:nvSpPr>
          <p:cNvPr id="14" name="Rectangle 13"/>
          <p:cNvSpPr/>
          <p:nvPr/>
        </p:nvSpPr>
        <p:spPr>
          <a:xfrm>
            <a:off x="6248400" y="18034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6200" y="19558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Go API</a:t>
            </a:r>
          </a:p>
        </p:txBody>
      </p:sp>
      <p:sp>
        <p:nvSpPr>
          <p:cNvPr id="16" name="TextBox 15"/>
          <p:cNvSpPr txBox="1"/>
          <p:nvPr/>
        </p:nvSpPr>
        <p:spPr>
          <a:xfrm>
            <a:off x="6426200" y="23495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HTTP API + Lambda</a:t>
            </a:r>
          </a:p>
        </p:txBody>
      </p:sp>
      <p:sp>
        <p:nvSpPr>
          <p:cNvPr id="17" name="Rectangle 16"/>
          <p:cNvSpPr/>
          <p:nvPr/>
        </p:nvSpPr>
        <p:spPr>
          <a:xfrm>
            <a:off x="9067800" y="18034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45600" y="19558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PostgreSQL</a:t>
            </a:r>
          </a:p>
        </p:txBody>
      </p:sp>
      <p:sp>
        <p:nvSpPr>
          <p:cNvPr id="19" name="TextBox 18"/>
          <p:cNvSpPr txBox="1"/>
          <p:nvPr/>
        </p:nvSpPr>
        <p:spPr>
          <a:xfrm>
            <a:off x="9245600" y="23495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RDS / 提出とOutbox</a:t>
            </a:r>
          </a:p>
        </p:txBody>
      </p:sp>
      <p:cxnSp>
        <p:nvCxnSpPr>
          <p:cNvPr id="20" name="Connector 19"/>
          <p:cNvCxnSpPr/>
          <p:nvPr/>
        </p:nvCxnSpPr>
        <p:spPr>
          <a:xfrm>
            <a:off x="3149600" y="2298700"/>
            <a:ext cx="2286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289037" y="2298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289037" y="2249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9000" y="2298700"/>
            <a:ext cx="2286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108437" y="2298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108437" y="2249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788400" y="2298700"/>
            <a:ext cx="2286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927837" y="2298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8927837" y="2249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429000" y="33528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06800" y="35052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Cognito</a:t>
            </a:r>
          </a:p>
        </p:txBody>
      </p:sp>
      <p:sp>
        <p:nvSpPr>
          <p:cNvPr id="31" name="TextBox 30"/>
          <p:cNvSpPr txBox="1"/>
          <p:nvPr/>
        </p:nvSpPr>
        <p:spPr>
          <a:xfrm>
            <a:off x="3606800" y="38989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ログイン / トークン検証</a:t>
            </a:r>
          </a:p>
        </p:txBody>
      </p:sp>
      <p:cxnSp>
        <p:nvCxnSpPr>
          <p:cNvPr id="32" name="Connector 31"/>
          <p:cNvCxnSpPr/>
          <p:nvPr/>
        </p:nvCxnSpPr>
        <p:spPr>
          <a:xfrm>
            <a:off x="4699000" y="2794000"/>
            <a:ext cx="0" cy="5588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4650290" y="3263637"/>
            <a:ext cx="48710"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699000" y="3263637"/>
            <a:ext cx="48709"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067800" y="33528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45600" y="35052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Bridge Lambda</a:t>
            </a:r>
          </a:p>
        </p:txBody>
      </p:sp>
      <p:sp>
        <p:nvSpPr>
          <p:cNvPr id="37" name="TextBox 36"/>
          <p:cNvSpPr txBox="1"/>
          <p:nvPr/>
        </p:nvSpPr>
        <p:spPr>
          <a:xfrm>
            <a:off x="9245600" y="38989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配送 / 進捗と結果の反映</a:t>
            </a:r>
          </a:p>
        </p:txBody>
      </p:sp>
      <p:cxnSp>
        <p:nvCxnSpPr>
          <p:cNvPr id="38" name="Connector 37"/>
          <p:cNvCxnSpPr/>
          <p:nvPr/>
        </p:nvCxnSpPr>
        <p:spPr>
          <a:xfrm flipV="1">
            <a:off x="10325100" y="2794000"/>
            <a:ext cx="0" cy="5588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25100" y="2794000"/>
            <a:ext cx="48709" cy="89162"/>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0276390" y="2794000"/>
            <a:ext cx="48710" cy="89162"/>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490200" y="2794000"/>
            <a:ext cx="0" cy="5588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10441490" y="3263637"/>
            <a:ext cx="48710"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490200" y="3263637"/>
            <a:ext cx="48709"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09600" y="48514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7400" y="50038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Lightsail × 2</a:t>
            </a:r>
          </a:p>
        </p:txBody>
      </p:sp>
      <p:sp>
        <p:nvSpPr>
          <p:cNvPr id="46" name="TextBox 45"/>
          <p:cNvSpPr txBox="1"/>
          <p:nvPr/>
        </p:nvSpPr>
        <p:spPr>
          <a:xfrm>
            <a:off x="787400" y="53975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worker / isolate</a:t>
            </a:r>
          </a:p>
        </p:txBody>
      </p:sp>
      <p:sp>
        <p:nvSpPr>
          <p:cNvPr id="47" name="Rectangle 46"/>
          <p:cNvSpPr/>
          <p:nvPr/>
        </p:nvSpPr>
        <p:spPr>
          <a:xfrm>
            <a:off x="4699000" y="4851400"/>
            <a:ext cx="32004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76800" y="5003800"/>
            <a:ext cx="28448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SQS</a:t>
            </a:r>
          </a:p>
        </p:txBody>
      </p:sp>
      <p:sp>
        <p:nvSpPr>
          <p:cNvPr id="49" name="TextBox 48"/>
          <p:cNvSpPr txBox="1"/>
          <p:nvPr/>
        </p:nvSpPr>
        <p:spPr>
          <a:xfrm>
            <a:off x="4876800" y="5397500"/>
            <a:ext cx="28448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要求 / 進捗と結果</a:t>
            </a:r>
          </a:p>
        </p:txBody>
      </p:sp>
      <p:sp>
        <p:nvSpPr>
          <p:cNvPr id="50" name="Rectangle 49"/>
          <p:cNvSpPr/>
          <p:nvPr/>
        </p:nvSpPr>
        <p:spPr>
          <a:xfrm>
            <a:off x="9067800" y="4851400"/>
            <a:ext cx="25146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45600" y="5003800"/>
            <a:ext cx="21590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S3</a:t>
            </a:r>
          </a:p>
        </p:txBody>
      </p:sp>
      <p:sp>
        <p:nvSpPr>
          <p:cNvPr id="52" name="TextBox 51"/>
          <p:cNvSpPr txBox="1"/>
          <p:nvPr/>
        </p:nvSpPr>
        <p:spPr>
          <a:xfrm>
            <a:off x="9245600" y="5397500"/>
            <a:ext cx="2159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ソース / テストデータ</a:t>
            </a:r>
          </a:p>
        </p:txBody>
      </p:sp>
      <p:cxnSp>
        <p:nvCxnSpPr>
          <p:cNvPr id="53" name="Connector 52"/>
          <p:cNvCxnSpPr/>
          <p:nvPr/>
        </p:nvCxnSpPr>
        <p:spPr>
          <a:xfrm flipH="1">
            <a:off x="8280400" y="3848100"/>
            <a:ext cx="7874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280400" y="3848100"/>
            <a:ext cx="0" cy="8001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6299200" y="4648200"/>
            <a:ext cx="19812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299200" y="4648200"/>
            <a:ext cx="0" cy="2032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6250490" y="4762237"/>
            <a:ext cx="48710"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299200" y="4762237"/>
            <a:ext cx="48709"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80400" y="3848100"/>
            <a:ext cx="7874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8978637" y="38481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8978637" y="37993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3124200" y="5219700"/>
            <a:ext cx="15748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124200" y="5170990"/>
            <a:ext cx="89162"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124200" y="5219700"/>
            <a:ext cx="89162"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124200" y="5524500"/>
            <a:ext cx="15748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4609837" y="55245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4609837" y="54757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325100" y="4343400"/>
            <a:ext cx="0" cy="5080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10276390" y="4762237"/>
            <a:ext cx="48710"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0325100" y="4762237"/>
            <a:ext cx="48709" cy="89163"/>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866900" y="5969000"/>
            <a:ext cx="72009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325100" y="5842000"/>
            <a:ext cx="0" cy="1270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9067800" y="5969000"/>
            <a:ext cx="12573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866900" y="5842000"/>
            <a:ext cx="0" cy="12700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866900" y="5842000"/>
            <a:ext cx="48709" cy="89162"/>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818190" y="5842000"/>
            <a:ext cx="48710" cy="89162"/>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06  JUDGING PIPELINE</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1件の提出が結果になるまで</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07 / 17</a:t>
            </a:r>
          </a:p>
        </p:txBody>
      </p:sp>
      <p:sp>
        <p:nvSpPr>
          <p:cNvPr id="8" name="TextBox 7"/>
          <p:cNvSpPr txBox="1"/>
          <p:nvPr/>
        </p:nvSpPr>
        <p:spPr>
          <a:xfrm>
            <a:off x="609600" y="1892300"/>
            <a:ext cx="2476500" cy="868679"/>
          </a:xfrm>
          <a:prstGeom prst="rect">
            <a:avLst/>
          </a:prstGeom>
          <a:noFill/>
        </p:spPr>
        <p:txBody>
          <a:bodyPr wrap="none" lIns="0" rIns="0" tIns="0" bIns="0">
            <a:spAutoFit/>
          </a:bodyPr>
          <a:lstStyle/>
          <a:p>
            <a:pPr>
              <a:lnSpc>
                <a:spcPts val="6439"/>
              </a:lnSpc>
              <a:spcBef>
                <a:spcPts val="0"/>
              </a:spcBef>
              <a:spcAft>
                <a:spcPts val="0"/>
              </a:spcAft>
              <a:defRPr sz="4600" b="0">
                <a:solidFill>
                  <a:srgbClr val="18794E"/>
                </a:solidFill>
                <a:latin typeface="IPAexGothic"/>
              </a:defRPr>
            </a:pPr>
            <a:r>
              <a:rPr>
                <a:ea typeface="IPAexGothic"/>
              </a:rPr>
              <a:t>01</a:t>
            </a:r>
          </a:p>
        </p:txBody>
      </p:sp>
      <p:sp>
        <p:nvSpPr>
          <p:cNvPr id="9" name="TextBox 8"/>
          <p:cNvSpPr txBox="1"/>
          <p:nvPr/>
        </p:nvSpPr>
        <p:spPr>
          <a:xfrm>
            <a:off x="609600" y="2819400"/>
            <a:ext cx="2476500" cy="548640"/>
          </a:xfrm>
          <a:prstGeom prst="rect">
            <a:avLst/>
          </a:prstGeom>
          <a:noFill/>
        </p:spPr>
        <p:txBody>
          <a:bodyPr wrap="none" lIns="0" rIns="0" tIns="0" bIns="0">
            <a:spAutoFit/>
          </a:bodyPr>
          <a:lstStyle/>
          <a:p>
            <a:pPr>
              <a:lnSpc>
                <a:spcPts val="3919"/>
              </a:lnSpc>
              <a:spcBef>
                <a:spcPts val="0"/>
              </a:spcBef>
              <a:spcAft>
                <a:spcPts val="0"/>
              </a:spcAft>
              <a:defRPr sz="2800" b="1">
                <a:solidFill>
                  <a:srgbClr val="192431"/>
                </a:solidFill>
                <a:latin typeface="IPAexGothic"/>
              </a:defRPr>
            </a:pPr>
            <a:r>
              <a:rPr>
                <a:ea typeface="IPAexGothic"/>
              </a:rPr>
              <a:t>受付</a:t>
            </a:r>
          </a:p>
        </p:txBody>
      </p:sp>
      <p:sp>
        <p:nvSpPr>
          <p:cNvPr id="10" name="TextBox 9"/>
          <p:cNvSpPr txBox="1"/>
          <p:nvPr/>
        </p:nvSpPr>
        <p:spPr>
          <a:xfrm>
            <a:off x="609600" y="3492500"/>
            <a:ext cx="2578100" cy="828039"/>
          </a:xfrm>
          <a:prstGeom prst="rect">
            <a:avLst/>
          </a:prstGeom>
          <a:noFill/>
        </p:spPr>
        <p:txBody>
          <a:bodyPr wrap="none" lIns="0" rIns="0" tIns="0" bIns="0">
            <a:spAutoFit/>
          </a:bodyPr>
          <a:lstStyle/>
          <a:p>
            <a:pPr>
              <a:lnSpc>
                <a:spcPts val="3060"/>
              </a:lnSpc>
              <a:spcBef>
                <a:spcPts val="0"/>
              </a:spcBef>
              <a:spcAft>
                <a:spcPts val="0"/>
              </a:spcAft>
              <a:defRPr sz="1800" b="0">
                <a:solidFill>
                  <a:srgbClr val="192431"/>
                </a:solidFill>
                <a:latin typeface="IPAexGothic"/>
              </a:defRPr>
            </a:pPr>
            <a:r>
              <a:rPr>
                <a:ea typeface="IPAexGothic"/>
              </a:rPr>
              <a:t>問題の版、言語、</a:t>
            </a:r>
          </a:p>
          <a:p>
            <a:pPr>
              <a:lnSpc>
                <a:spcPts val="3060"/>
              </a:lnSpc>
              <a:spcBef>
                <a:spcPts val="0"/>
              </a:spcBef>
              <a:spcAft>
                <a:spcPts val="0"/>
              </a:spcAft>
              <a:defRPr sz="1800" b="0">
                <a:solidFill>
                  <a:srgbClr val="192431"/>
                </a:solidFill>
                <a:latin typeface="IPAexGothic"/>
              </a:defRPr>
            </a:pPr>
            <a:r>
              <a:rPr>
                <a:ea typeface="IPAexGothic"/>
              </a:rPr>
              <a:t>制限値をDBに保存</a:t>
            </a:r>
          </a:p>
        </p:txBody>
      </p:sp>
      <p:cxnSp>
        <p:nvCxnSpPr>
          <p:cNvPr id="11" name="Connector 10"/>
          <p:cNvCxnSpPr/>
          <p:nvPr/>
        </p:nvCxnSpPr>
        <p:spPr>
          <a:xfrm>
            <a:off x="2628900" y="2209800"/>
            <a:ext cx="584200" cy="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123937" y="2209800"/>
            <a:ext cx="89163" cy="48709"/>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123937" y="2161090"/>
            <a:ext cx="89163" cy="4871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29000" y="1892300"/>
            <a:ext cx="2476500" cy="868679"/>
          </a:xfrm>
          <a:prstGeom prst="rect">
            <a:avLst/>
          </a:prstGeom>
          <a:noFill/>
        </p:spPr>
        <p:txBody>
          <a:bodyPr wrap="none" lIns="0" rIns="0" tIns="0" bIns="0">
            <a:spAutoFit/>
          </a:bodyPr>
          <a:lstStyle/>
          <a:p>
            <a:pPr>
              <a:lnSpc>
                <a:spcPts val="6439"/>
              </a:lnSpc>
              <a:spcBef>
                <a:spcPts val="0"/>
              </a:spcBef>
              <a:spcAft>
                <a:spcPts val="0"/>
              </a:spcAft>
              <a:defRPr sz="4600" b="0">
                <a:solidFill>
                  <a:srgbClr val="18794E"/>
                </a:solidFill>
                <a:latin typeface="IPAexGothic"/>
              </a:defRPr>
            </a:pPr>
            <a:r>
              <a:rPr>
                <a:ea typeface="IPAexGothic"/>
              </a:rPr>
              <a:t>02</a:t>
            </a:r>
          </a:p>
        </p:txBody>
      </p:sp>
      <p:sp>
        <p:nvSpPr>
          <p:cNvPr id="15" name="TextBox 14"/>
          <p:cNvSpPr txBox="1"/>
          <p:nvPr/>
        </p:nvSpPr>
        <p:spPr>
          <a:xfrm>
            <a:off x="3429000" y="2819400"/>
            <a:ext cx="2476500" cy="548640"/>
          </a:xfrm>
          <a:prstGeom prst="rect">
            <a:avLst/>
          </a:prstGeom>
          <a:noFill/>
        </p:spPr>
        <p:txBody>
          <a:bodyPr wrap="none" lIns="0" rIns="0" tIns="0" bIns="0">
            <a:spAutoFit/>
          </a:bodyPr>
          <a:lstStyle/>
          <a:p>
            <a:pPr>
              <a:lnSpc>
                <a:spcPts val="3919"/>
              </a:lnSpc>
              <a:spcBef>
                <a:spcPts val="0"/>
              </a:spcBef>
              <a:spcAft>
                <a:spcPts val="0"/>
              </a:spcAft>
              <a:defRPr sz="2800" b="1">
                <a:solidFill>
                  <a:srgbClr val="192431"/>
                </a:solidFill>
                <a:latin typeface="IPAexGothic"/>
              </a:defRPr>
            </a:pPr>
            <a:r>
              <a:rPr>
                <a:ea typeface="IPAexGothic"/>
              </a:rPr>
              <a:t>配送</a:t>
            </a:r>
          </a:p>
        </p:txBody>
      </p:sp>
      <p:sp>
        <p:nvSpPr>
          <p:cNvPr id="16" name="TextBox 15"/>
          <p:cNvSpPr txBox="1"/>
          <p:nvPr/>
        </p:nvSpPr>
        <p:spPr>
          <a:xfrm>
            <a:off x="3429000" y="3492500"/>
            <a:ext cx="2578100" cy="828039"/>
          </a:xfrm>
          <a:prstGeom prst="rect">
            <a:avLst/>
          </a:prstGeom>
          <a:noFill/>
        </p:spPr>
        <p:txBody>
          <a:bodyPr wrap="none" lIns="0" rIns="0" tIns="0" bIns="0">
            <a:spAutoFit/>
          </a:bodyPr>
          <a:lstStyle/>
          <a:p>
            <a:pPr>
              <a:lnSpc>
                <a:spcPts val="3060"/>
              </a:lnSpc>
              <a:spcBef>
                <a:spcPts val="0"/>
              </a:spcBef>
              <a:spcAft>
                <a:spcPts val="0"/>
              </a:spcAft>
              <a:defRPr sz="1800" b="0">
                <a:solidFill>
                  <a:srgbClr val="192431"/>
                </a:solidFill>
                <a:latin typeface="IPAexGothic"/>
              </a:defRPr>
            </a:pPr>
            <a:r>
              <a:rPr>
                <a:ea typeface="IPAexGothic"/>
              </a:rPr>
              <a:t>S3に入力を置き、</a:t>
            </a:r>
          </a:p>
          <a:p>
            <a:pPr>
              <a:lnSpc>
                <a:spcPts val="3060"/>
              </a:lnSpc>
              <a:spcBef>
                <a:spcPts val="0"/>
              </a:spcBef>
              <a:spcAft>
                <a:spcPts val="0"/>
              </a:spcAft>
              <a:defRPr sz="1800" b="0">
                <a:solidFill>
                  <a:srgbClr val="192431"/>
                </a:solidFill>
                <a:latin typeface="IPAexGothic"/>
              </a:defRPr>
            </a:pPr>
            <a:r>
              <a:rPr>
                <a:ea typeface="IPAexGothic"/>
              </a:rPr>
              <a:t>SQSへ要求を送る</a:t>
            </a:r>
          </a:p>
        </p:txBody>
      </p:sp>
      <p:cxnSp>
        <p:nvCxnSpPr>
          <p:cNvPr id="17" name="Connector 16"/>
          <p:cNvCxnSpPr/>
          <p:nvPr/>
        </p:nvCxnSpPr>
        <p:spPr>
          <a:xfrm>
            <a:off x="5448300" y="2209800"/>
            <a:ext cx="584200" cy="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943337" y="2209800"/>
            <a:ext cx="89163" cy="48709"/>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5943337" y="2161090"/>
            <a:ext cx="89163" cy="4871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48400" y="1892300"/>
            <a:ext cx="2476500" cy="868679"/>
          </a:xfrm>
          <a:prstGeom prst="rect">
            <a:avLst/>
          </a:prstGeom>
          <a:noFill/>
        </p:spPr>
        <p:txBody>
          <a:bodyPr wrap="none" lIns="0" rIns="0" tIns="0" bIns="0">
            <a:spAutoFit/>
          </a:bodyPr>
          <a:lstStyle/>
          <a:p>
            <a:pPr>
              <a:lnSpc>
                <a:spcPts val="6439"/>
              </a:lnSpc>
              <a:spcBef>
                <a:spcPts val="0"/>
              </a:spcBef>
              <a:spcAft>
                <a:spcPts val="0"/>
              </a:spcAft>
              <a:defRPr sz="4600" b="0">
                <a:solidFill>
                  <a:srgbClr val="18794E"/>
                </a:solidFill>
                <a:latin typeface="IPAexGothic"/>
              </a:defRPr>
            </a:pPr>
            <a:r>
              <a:rPr>
                <a:ea typeface="IPAexGothic"/>
              </a:rPr>
              <a:t>03</a:t>
            </a:r>
          </a:p>
        </p:txBody>
      </p:sp>
      <p:sp>
        <p:nvSpPr>
          <p:cNvPr id="21" name="TextBox 20"/>
          <p:cNvSpPr txBox="1"/>
          <p:nvPr/>
        </p:nvSpPr>
        <p:spPr>
          <a:xfrm>
            <a:off x="6248400" y="2819400"/>
            <a:ext cx="2476500" cy="548640"/>
          </a:xfrm>
          <a:prstGeom prst="rect">
            <a:avLst/>
          </a:prstGeom>
          <a:noFill/>
        </p:spPr>
        <p:txBody>
          <a:bodyPr wrap="none" lIns="0" rIns="0" tIns="0" bIns="0">
            <a:spAutoFit/>
          </a:bodyPr>
          <a:lstStyle/>
          <a:p>
            <a:pPr>
              <a:lnSpc>
                <a:spcPts val="3919"/>
              </a:lnSpc>
              <a:spcBef>
                <a:spcPts val="0"/>
              </a:spcBef>
              <a:spcAft>
                <a:spcPts val="0"/>
              </a:spcAft>
              <a:defRPr sz="2800" b="1">
                <a:solidFill>
                  <a:srgbClr val="192431"/>
                </a:solidFill>
                <a:latin typeface="IPAexGothic"/>
              </a:defRPr>
            </a:pPr>
            <a:r>
              <a:rPr>
                <a:ea typeface="IPAexGothic"/>
              </a:rPr>
              <a:t>採点</a:t>
            </a:r>
          </a:p>
        </p:txBody>
      </p:sp>
      <p:sp>
        <p:nvSpPr>
          <p:cNvPr id="22" name="TextBox 21"/>
          <p:cNvSpPr txBox="1"/>
          <p:nvPr/>
        </p:nvSpPr>
        <p:spPr>
          <a:xfrm>
            <a:off x="6248400" y="3492500"/>
            <a:ext cx="2578100" cy="828039"/>
          </a:xfrm>
          <a:prstGeom prst="rect">
            <a:avLst/>
          </a:prstGeom>
          <a:noFill/>
        </p:spPr>
        <p:txBody>
          <a:bodyPr wrap="none" lIns="0" rIns="0" tIns="0" bIns="0">
            <a:spAutoFit/>
          </a:bodyPr>
          <a:lstStyle/>
          <a:p>
            <a:pPr>
              <a:lnSpc>
                <a:spcPts val="3060"/>
              </a:lnSpc>
              <a:spcBef>
                <a:spcPts val="0"/>
              </a:spcBef>
              <a:spcAft>
                <a:spcPts val="0"/>
              </a:spcAft>
              <a:defRPr sz="1800" b="0">
                <a:solidFill>
                  <a:srgbClr val="192431"/>
                </a:solidFill>
                <a:latin typeface="IPAexGothic"/>
              </a:defRPr>
            </a:pPr>
            <a:r>
              <a:rPr>
                <a:ea typeface="IPAexGothic"/>
              </a:rPr>
              <a:t>入力を検証し、</a:t>
            </a:r>
          </a:p>
          <a:p>
            <a:pPr>
              <a:lnSpc>
                <a:spcPts val="3060"/>
              </a:lnSpc>
              <a:spcBef>
                <a:spcPts val="0"/>
              </a:spcBef>
              <a:spcAft>
                <a:spcPts val="0"/>
              </a:spcAft>
              <a:defRPr sz="1800" b="0">
                <a:solidFill>
                  <a:srgbClr val="192431"/>
                </a:solidFill>
                <a:latin typeface="IPAexGothic"/>
              </a:defRPr>
            </a:pPr>
            <a:r>
              <a:rPr>
                <a:ea typeface="IPAexGothic"/>
              </a:rPr>
              <a:t>隔離環境で実行</a:t>
            </a:r>
          </a:p>
        </p:txBody>
      </p:sp>
      <p:cxnSp>
        <p:nvCxnSpPr>
          <p:cNvPr id="23" name="Connector 22"/>
          <p:cNvCxnSpPr/>
          <p:nvPr/>
        </p:nvCxnSpPr>
        <p:spPr>
          <a:xfrm>
            <a:off x="8267700" y="2209800"/>
            <a:ext cx="584200" cy="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8762737" y="2209800"/>
            <a:ext cx="89163" cy="48709"/>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8762737" y="2161090"/>
            <a:ext cx="89163" cy="4871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67800" y="1892300"/>
            <a:ext cx="2476500" cy="868679"/>
          </a:xfrm>
          <a:prstGeom prst="rect">
            <a:avLst/>
          </a:prstGeom>
          <a:noFill/>
        </p:spPr>
        <p:txBody>
          <a:bodyPr wrap="none" lIns="0" rIns="0" tIns="0" bIns="0">
            <a:spAutoFit/>
          </a:bodyPr>
          <a:lstStyle/>
          <a:p>
            <a:pPr>
              <a:lnSpc>
                <a:spcPts val="6439"/>
              </a:lnSpc>
              <a:spcBef>
                <a:spcPts val="0"/>
              </a:spcBef>
              <a:spcAft>
                <a:spcPts val="0"/>
              </a:spcAft>
              <a:defRPr sz="4600" b="0">
                <a:solidFill>
                  <a:srgbClr val="18794E"/>
                </a:solidFill>
                <a:latin typeface="IPAexGothic"/>
              </a:defRPr>
            </a:pPr>
            <a:r>
              <a:rPr>
                <a:ea typeface="IPAexGothic"/>
              </a:rPr>
              <a:t>04</a:t>
            </a:r>
          </a:p>
        </p:txBody>
      </p:sp>
      <p:sp>
        <p:nvSpPr>
          <p:cNvPr id="27" name="TextBox 26"/>
          <p:cNvSpPr txBox="1"/>
          <p:nvPr/>
        </p:nvSpPr>
        <p:spPr>
          <a:xfrm>
            <a:off x="9067800" y="2819400"/>
            <a:ext cx="2476500" cy="548640"/>
          </a:xfrm>
          <a:prstGeom prst="rect">
            <a:avLst/>
          </a:prstGeom>
          <a:noFill/>
        </p:spPr>
        <p:txBody>
          <a:bodyPr wrap="none" lIns="0" rIns="0" tIns="0" bIns="0">
            <a:spAutoFit/>
          </a:bodyPr>
          <a:lstStyle/>
          <a:p>
            <a:pPr>
              <a:lnSpc>
                <a:spcPts val="3919"/>
              </a:lnSpc>
              <a:spcBef>
                <a:spcPts val="0"/>
              </a:spcBef>
              <a:spcAft>
                <a:spcPts val="0"/>
              </a:spcAft>
              <a:defRPr sz="2800" b="1">
                <a:solidFill>
                  <a:srgbClr val="192431"/>
                </a:solidFill>
                <a:latin typeface="IPAexGothic"/>
              </a:defRPr>
            </a:pPr>
            <a:r>
              <a:rPr>
                <a:ea typeface="IPAexGothic"/>
              </a:rPr>
              <a:t>確定</a:t>
            </a:r>
          </a:p>
        </p:txBody>
      </p:sp>
      <p:sp>
        <p:nvSpPr>
          <p:cNvPr id="28" name="TextBox 27"/>
          <p:cNvSpPr txBox="1"/>
          <p:nvPr/>
        </p:nvSpPr>
        <p:spPr>
          <a:xfrm>
            <a:off x="9067800" y="3492500"/>
            <a:ext cx="2578100" cy="828039"/>
          </a:xfrm>
          <a:prstGeom prst="rect">
            <a:avLst/>
          </a:prstGeom>
          <a:noFill/>
        </p:spPr>
        <p:txBody>
          <a:bodyPr wrap="none" lIns="0" rIns="0" tIns="0" bIns="0">
            <a:spAutoFit/>
          </a:bodyPr>
          <a:lstStyle/>
          <a:p>
            <a:pPr>
              <a:lnSpc>
                <a:spcPts val="3060"/>
              </a:lnSpc>
              <a:spcBef>
                <a:spcPts val="0"/>
              </a:spcBef>
              <a:spcAft>
                <a:spcPts val="0"/>
              </a:spcAft>
              <a:defRPr sz="1800" b="0">
                <a:solidFill>
                  <a:srgbClr val="192431"/>
                </a:solidFill>
                <a:latin typeface="IPAexGothic"/>
              </a:defRPr>
            </a:pPr>
            <a:r>
              <a:rPr>
                <a:ea typeface="IPAexGothic"/>
              </a:rPr>
              <a:t>結果をDBへ反映し、</a:t>
            </a:r>
          </a:p>
          <a:p>
            <a:pPr>
              <a:lnSpc>
                <a:spcPts val="3060"/>
              </a:lnSpc>
              <a:spcBef>
                <a:spcPts val="0"/>
              </a:spcBef>
              <a:spcAft>
                <a:spcPts val="0"/>
              </a:spcAft>
              <a:defRPr sz="1800" b="0">
                <a:solidFill>
                  <a:srgbClr val="192431"/>
                </a:solidFill>
                <a:latin typeface="IPAexGothic"/>
              </a:defRPr>
            </a:pPr>
            <a:r>
              <a:rPr>
                <a:ea typeface="IPAexGothic"/>
              </a:rPr>
              <a:t>画面から取得</a:t>
            </a:r>
          </a:p>
        </p:txBody>
      </p:sp>
      <p:sp>
        <p:nvSpPr>
          <p:cNvPr id="29" name="Rectangle 28"/>
          <p:cNvSpPr/>
          <p:nvPr/>
        </p:nvSpPr>
        <p:spPr>
          <a:xfrm>
            <a:off x="609600" y="4851400"/>
            <a:ext cx="10972800" cy="8763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6300" y="5092700"/>
            <a:ext cx="10464800" cy="477519"/>
          </a:xfrm>
          <a:prstGeom prst="rect">
            <a:avLst/>
          </a:prstGeom>
          <a:noFill/>
        </p:spPr>
        <p:txBody>
          <a:bodyPr wrap="none" lIns="0" rIns="0" tIns="0" bIns="0">
            <a:spAutoFit/>
          </a:bodyPr>
          <a:lstStyle/>
          <a:p>
            <a:pPr>
              <a:lnSpc>
                <a:spcPts val="3359"/>
              </a:lnSpc>
              <a:spcBef>
                <a:spcPts val="0"/>
              </a:spcBef>
              <a:spcAft>
                <a:spcPts val="0"/>
              </a:spcAft>
              <a:defRPr sz="2400" b="0">
                <a:solidFill>
                  <a:srgbClr val="18794E"/>
                </a:solidFill>
                <a:latin typeface="IPAexGothic"/>
              </a:defRPr>
            </a:pPr>
            <a:r>
              <a:rPr>
                <a:ea typeface="IPAexGothic"/>
              </a:rPr>
              <a:t>受付と採点を非同期に分離し、処理中の進捗も返す。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07  DELIVERY &amp; CONSISTENCY</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再配信があっても、確定結果を守る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08 / 17</a:t>
            </a:r>
          </a:p>
        </p:txBody>
      </p:sp>
      <p:sp>
        <p:nvSpPr>
          <p:cNvPr id="8" name="TextBox 7"/>
          <p:cNvSpPr txBox="1"/>
          <p:nvPr/>
        </p:nvSpPr>
        <p:spPr>
          <a:xfrm>
            <a:off x="609600" y="1854200"/>
            <a:ext cx="4064000" cy="299720"/>
          </a:xfrm>
          <a:prstGeom prst="rect">
            <a:avLst/>
          </a:prstGeom>
          <a:noFill/>
        </p:spPr>
        <p:txBody>
          <a:bodyPr wrap="none" lIns="0" rIns="0" tIns="0" bIns="0">
            <a:spAutoFit/>
          </a:bodyPr>
          <a:lstStyle/>
          <a:p>
            <a:pPr>
              <a:lnSpc>
                <a:spcPts val="1959"/>
              </a:lnSpc>
              <a:spcBef>
                <a:spcPts val="0"/>
              </a:spcBef>
              <a:spcAft>
                <a:spcPts val="0"/>
              </a:spcAft>
              <a:defRPr sz="1400" b="0">
                <a:solidFill>
                  <a:srgbClr val="65717C"/>
                </a:solidFill>
                <a:latin typeface="IPAexGothic"/>
              </a:defRPr>
            </a:pPr>
            <a:r>
              <a:rPr>
                <a:ea typeface="IPAexGothic"/>
              </a:rPr>
              <a:t>起こり得ること</a:t>
            </a:r>
          </a:p>
        </p:txBody>
      </p:sp>
      <p:sp>
        <p:nvSpPr>
          <p:cNvPr id="9" name="TextBox 8"/>
          <p:cNvSpPr txBox="1"/>
          <p:nvPr/>
        </p:nvSpPr>
        <p:spPr>
          <a:xfrm>
            <a:off x="4914900" y="1854200"/>
            <a:ext cx="6667500" cy="299720"/>
          </a:xfrm>
          <a:prstGeom prst="rect">
            <a:avLst/>
          </a:prstGeom>
          <a:noFill/>
        </p:spPr>
        <p:txBody>
          <a:bodyPr wrap="none" lIns="0" rIns="0" tIns="0" bIns="0">
            <a:spAutoFit/>
          </a:bodyPr>
          <a:lstStyle/>
          <a:p>
            <a:pPr>
              <a:lnSpc>
                <a:spcPts val="1959"/>
              </a:lnSpc>
              <a:spcBef>
                <a:spcPts val="0"/>
              </a:spcBef>
              <a:spcAft>
                <a:spcPts val="0"/>
              </a:spcAft>
              <a:defRPr sz="1400" b="0">
                <a:solidFill>
                  <a:srgbClr val="65717C"/>
                </a:solidFill>
                <a:latin typeface="IPAexGothic"/>
              </a:defRPr>
            </a:pPr>
            <a:r>
              <a:rPr>
                <a:ea typeface="IPAexGothic"/>
              </a:rPr>
              <a:t>実装での扱い</a:t>
            </a:r>
          </a:p>
        </p:txBody>
      </p:sp>
      <p:cxnSp>
        <p:nvCxnSpPr>
          <p:cNvPr id="10" name="Connector 9"/>
          <p:cNvCxnSpPr/>
          <p:nvPr/>
        </p:nvCxnSpPr>
        <p:spPr>
          <a:xfrm>
            <a:off x="609600" y="22860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2463800"/>
            <a:ext cx="40005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API受付後の配送待ち</a:t>
            </a:r>
          </a:p>
        </p:txBody>
      </p:sp>
      <p:sp>
        <p:nvSpPr>
          <p:cNvPr id="12" name="TextBox 11"/>
          <p:cNvSpPr txBox="1"/>
          <p:nvPr/>
        </p:nvSpPr>
        <p:spPr>
          <a:xfrm>
            <a:off x="4914900" y="2463800"/>
            <a:ext cx="66675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18794E"/>
                </a:solidFill>
                <a:latin typeface="IPAexGothic"/>
              </a:defRPr>
            </a:pPr>
            <a:r>
              <a:rPr>
                <a:ea typeface="IPAexGothic"/>
              </a:rPr>
              <a:t>提出行をOutboxとしてDBに残す</a:t>
            </a:r>
          </a:p>
        </p:txBody>
      </p:sp>
      <p:cxnSp>
        <p:nvCxnSpPr>
          <p:cNvPr id="13" name="Connector 12"/>
          <p:cNvCxnSpPr/>
          <p:nvPr/>
        </p:nvCxnSpPr>
        <p:spPr>
          <a:xfrm>
            <a:off x="609600" y="32512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3429000"/>
            <a:ext cx="40005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要求や結果の重複</a:t>
            </a:r>
          </a:p>
        </p:txBody>
      </p:sp>
      <p:sp>
        <p:nvSpPr>
          <p:cNvPr id="15" name="TextBox 14"/>
          <p:cNvSpPr txBox="1"/>
          <p:nvPr/>
        </p:nvSpPr>
        <p:spPr>
          <a:xfrm>
            <a:off x="4914900" y="3429000"/>
            <a:ext cx="66675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18794E"/>
                </a:solidFill>
                <a:latin typeface="IPAexGothic"/>
              </a:defRPr>
            </a:pPr>
            <a:r>
              <a:rPr>
                <a:ea typeface="IPAexGothic"/>
              </a:rPr>
              <a:t>試行IDを照合し、確定結果を上書きしない</a:t>
            </a:r>
          </a:p>
        </p:txBody>
      </p:sp>
      <p:cxnSp>
        <p:nvCxnSpPr>
          <p:cNvPr id="16" name="Connector 15"/>
          <p:cNvCxnSpPr/>
          <p:nvPr/>
        </p:nvCxnSpPr>
        <p:spPr>
          <a:xfrm>
            <a:off x="609600" y="42164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4394200"/>
            <a:ext cx="40005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ワーカーの途中停止</a:t>
            </a:r>
          </a:p>
        </p:txBody>
      </p:sp>
      <p:sp>
        <p:nvSpPr>
          <p:cNvPr id="18" name="TextBox 17"/>
          <p:cNvSpPr txBox="1"/>
          <p:nvPr/>
        </p:nvSpPr>
        <p:spPr>
          <a:xfrm>
            <a:off x="4914900" y="4394200"/>
            <a:ext cx="66675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18794E"/>
                </a:solidFill>
                <a:latin typeface="IPAexGothic"/>
              </a:defRPr>
            </a:pPr>
            <a:r>
              <a:rPr>
                <a:ea typeface="IPAexGothic"/>
              </a:rPr>
              <a:t>SQSが再配信し、未完了のまま残さない</a:t>
            </a:r>
          </a:p>
        </p:txBody>
      </p:sp>
      <p:sp>
        <p:nvSpPr>
          <p:cNvPr id="19" name="TextBox 18"/>
          <p:cNvSpPr txBox="1"/>
          <p:nvPr/>
        </p:nvSpPr>
        <p:spPr>
          <a:xfrm>
            <a:off x="609600" y="5537200"/>
            <a:ext cx="109855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「一度だけ実行」ではなく、重複を受け止める設計。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08  SANDBOX</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提出コードをケースごとに隔離する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09 / 17</a:t>
            </a:r>
          </a:p>
        </p:txBody>
      </p:sp>
      <p:sp>
        <p:nvSpPr>
          <p:cNvPr id="8" name="Rectangle 7"/>
          <p:cNvSpPr/>
          <p:nvPr/>
        </p:nvSpPr>
        <p:spPr>
          <a:xfrm>
            <a:off x="609600" y="1816100"/>
            <a:ext cx="6985000" cy="3695700"/>
          </a:xfrm>
          <a:prstGeom prst="rect">
            <a:avLst/>
          </a:prstGeom>
          <a:solidFill>
            <a:srgbClr val="EFF6F1"/>
          </a:solidFill>
          <a:ln w="12700">
            <a:solidFill>
              <a:srgbClr val="DC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2006600"/>
            <a:ext cx="6350000" cy="317500"/>
          </a:xfrm>
          <a:prstGeom prst="rect">
            <a:avLst/>
          </a:prstGeom>
          <a:noFill/>
        </p:spPr>
        <p:txBody>
          <a:bodyPr wrap="none" lIns="0" rIns="0" tIns="0" bIns="0">
            <a:spAutoFit/>
          </a:bodyPr>
          <a:lstStyle/>
          <a:p>
            <a:pPr>
              <a:lnSpc>
                <a:spcPts val="2100"/>
              </a:lnSpc>
              <a:spcBef>
                <a:spcPts val="0"/>
              </a:spcBef>
              <a:spcAft>
                <a:spcPts val="0"/>
              </a:spcAft>
              <a:defRPr sz="1500" b="0">
                <a:solidFill>
                  <a:srgbClr val="18794E"/>
                </a:solidFill>
                <a:latin typeface="IPAexGothic"/>
              </a:defRPr>
            </a:pPr>
            <a:r>
              <a:rPr>
                <a:ea typeface="IPAexGothic"/>
              </a:rPr>
              <a:t>Lightsail host</a:t>
            </a:r>
          </a:p>
        </p:txBody>
      </p:sp>
      <p:sp>
        <p:nvSpPr>
          <p:cNvPr id="10" name="TextBox 9"/>
          <p:cNvSpPr txBox="1"/>
          <p:nvPr/>
        </p:nvSpPr>
        <p:spPr>
          <a:xfrm>
            <a:off x="850900" y="2438400"/>
            <a:ext cx="6350000" cy="477519"/>
          </a:xfrm>
          <a:prstGeom prst="rect">
            <a:avLst/>
          </a:prstGeom>
          <a:noFill/>
        </p:spPr>
        <p:txBody>
          <a:bodyPr wrap="none" lIns="0" rIns="0" tIns="0" bIns="0">
            <a:spAutoFit/>
          </a:bodyPr>
          <a:lstStyle/>
          <a:p>
            <a:pPr>
              <a:lnSpc>
                <a:spcPts val="3359"/>
              </a:lnSpc>
              <a:spcBef>
                <a:spcPts val="0"/>
              </a:spcBef>
              <a:spcAft>
                <a:spcPts val="0"/>
              </a:spcAft>
              <a:defRPr sz="2400" b="1">
                <a:solidFill>
                  <a:srgbClr val="192431"/>
                </a:solidFill>
                <a:latin typeface="IPAexGothic"/>
              </a:defRPr>
            </a:pPr>
            <a:r>
              <a:rPr>
                <a:ea typeface="IPAexGothic"/>
              </a:rPr>
              <a:t>管理ワーカー</a:t>
            </a:r>
          </a:p>
        </p:txBody>
      </p:sp>
      <p:sp>
        <p:nvSpPr>
          <p:cNvPr id="11" name="Rectangle 10"/>
          <p:cNvSpPr/>
          <p:nvPr/>
        </p:nvSpPr>
        <p:spPr>
          <a:xfrm>
            <a:off x="1016000" y="3162300"/>
            <a:ext cx="6134100" cy="1943100"/>
          </a:xfrm>
          <a:prstGeom prst="rect">
            <a:avLst/>
          </a:prstGeom>
          <a:solidFill>
            <a:srgbClr val="FFFFFF"/>
          </a:solidFill>
          <a:ln w="12700">
            <a:solidFill>
              <a:srgbClr val="187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7300" y="3352800"/>
            <a:ext cx="56007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18794E"/>
                </a:solidFill>
                <a:latin typeface="IPAexGothic"/>
              </a:defRPr>
            </a:pPr>
            <a:r>
              <a:rPr>
                <a:ea typeface="IPAexGothic"/>
              </a:rPr>
              <a:t>isolate / ケース専用cgroup</a:t>
            </a:r>
          </a:p>
        </p:txBody>
      </p:sp>
      <p:sp>
        <p:nvSpPr>
          <p:cNvPr id="13" name="TextBox 12"/>
          <p:cNvSpPr txBox="1"/>
          <p:nvPr/>
        </p:nvSpPr>
        <p:spPr>
          <a:xfrm>
            <a:off x="1257300" y="3898900"/>
            <a:ext cx="5562600" cy="1079500"/>
          </a:xfrm>
          <a:prstGeom prst="rect">
            <a:avLst/>
          </a:prstGeom>
          <a:noFill/>
        </p:spPr>
        <p:txBody>
          <a:bodyPr wrap="none" lIns="0" rIns="0" tIns="0" bIns="0">
            <a:spAutoFit/>
          </a:bodyPr>
          <a:lstStyle/>
          <a:p>
            <a:pPr>
              <a:lnSpc>
                <a:spcPts val="2700"/>
              </a:lnSpc>
              <a:spcBef>
                <a:spcPts val="0"/>
              </a:spcBef>
              <a:spcAft>
                <a:spcPts val="0"/>
              </a:spcAft>
              <a:defRPr sz="1800" b="0">
                <a:solidFill>
                  <a:srgbClr val="192431"/>
                </a:solidFill>
                <a:latin typeface="IPAexGothic"/>
              </a:defRPr>
            </a:pPr>
            <a:r>
              <a:rPr>
                <a:ea typeface="IPAexGothic"/>
              </a:rPr>
              <a:t>実行ファイル ＋ 入力</a:t>
            </a:r>
          </a:p>
          <a:p>
            <a:pPr>
              <a:lnSpc>
                <a:spcPts val="2700"/>
              </a:lnSpc>
              <a:spcBef>
                <a:spcPts val="0"/>
              </a:spcBef>
              <a:spcAft>
                <a:spcPts val="0"/>
              </a:spcAft>
              <a:defRPr sz="1800" b="0">
                <a:solidFill>
                  <a:srgbClr val="192431"/>
                </a:solidFill>
                <a:latin typeface="IPAexGothic"/>
              </a:defRPr>
            </a:pPr>
            <a:r>
              <a:rPr>
                <a:ea typeface="IPAexGothic"/>
              </a:rPr>
              <a:t>CPU、メモリ、出力を制限</a:t>
            </a:r>
          </a:p>
          <a:p>
            <a:pPr>
              <a:lnSpc>
                <a:spcPts val="2700"/>
              </a:lnSpc>
              <a:spcBef>
                <a:spcPts val="0"/>
              </a:spcBef>
              <a:spcAft>
                <a:spcPts val="0"/>
              </a:spcAft>
              <a:defRPr sz="1800" b="0">
                <a:solidFill>
                  <a:srgbClr val="192431"/>
                </a:solidFill>
                <a:latin typeface="IPAexGothic"/>
              </a:defRPr>
            </a:pPr>
            <a:r>
              <a:rPr>
                <a:ea typeface="IPAexGothic"/>
              </a:rPr>
              <a:t>外部ネットワークへの経路なし</a:t>
            </a:r>
          </a:p>
        </p:txBody>
      </p:sp>
      <p:sp>
        <p:nvSpPr>
          <p:cNvPr id="14" name="TextBox 13"/>
          <p:cNvSpPr txBox="1"/>
          <p:nvPr/>
        </p:nvSpPr>
        <p:spPr>
          <a:xfrm>
            <a:off x="8178800" y="2057400"/>
            <a:ext cx="3390900" cy="459739"/>
          </a:xfrm>
          <a:prstGeom prst="rect">
            <a:avLst/>
          </a:prstGeom>
          <a:noFill/>
        </p:spPr>
        <p:txBody>
          <a:bodyPr wrap="none" lIns="0" rIns="0" tIns="0" bIns="0">
            <a:spAutoFit/>
          </a:bodyPr>
          <a:lstStyle/>
          <a:p>
            <a:pPr>
              <a:lnSpc>
                <a:spcPts val="3219"/>
              </a:lnSpc>
              <a:spcBef>
                <a:spcPts val="0"/>
              </a:spcBef>
              <a:spcAft>
                <a:spcPts val="0"/>
              </a:spcAft>
              <a:defRPr sz="2300" b="1">
                <a:solidFill>
                  <a:srgbClr val="192431"/>
                </a:solidFill>
                <a:latin typeface="IPAexGothic"/>
              </a:defRPr>
            </a:pPr>
            <a:r>
              <a:rPr>
                <a:ea typeface="IPAexGothic"/>
              </a:rPr>
              <a:t>提出側へ渡さない</a:t>
            </a:r>
          </a:p>
        </p:txBody>
      </p:sp>
      <p:sp>
        <p:nvSpPr>
          <p:cNvPr id="15" name="TextBox 14"/>
          <p:cNvSpPr txBox="1"/>
          <p:nvPr/>
        </p:nvSpPr>
        <p:spPr>
          <a:xfrm>
            <a:off x="8178800" y="2730500"/>
            <a:ext cx="3416300" cy="1281430"/>
          </a:xfrm>
          <a:prstGeom prst="rect">
            <a:avLst/>
          </a:prstGeom>
          <a:noFill/>
        </p:spPr>
        <p:txBody>
          <a:bodyPr wrap="none" lIns="0" rIns="0" tIns="0" bIns="0">
            <a:spAutoFit/>
          </a:bodyPr>
          <a:lstStyle/>
          <a:p>
            <a:pPr>
              <a:lnSpc>
                <a:spcPts val="3229"/>
              </a:lnSpc>
              <a:spcBef>
                <a:spcPts val="0"/>
              </a:spcBef>
              <a:spcAft>
                <a:spcPts val="0"/>
              </a:spcAft>
              <a:defRPr sz="1700" b="0">
                <a:solidFill>
                  <a:srgbClr val="192431"/>
                </a:solidFill>
                <a:latin typeface="IPAexGothic"/>
              </a:defRPr>
            </a:pPr>
            <a:r>
              <a:rPr>
                <a:ea typeface="IPAexGothic"/>
              </a:rPr>
              <a:t>AWS認証情報</a:t>
            </a:r>
          </a:p>
          <a:p>
            <a:pPr>
              <a:lnSpc>
                <a:spcPts val="3229"/>
              </a:lnSpc>
              <a:spcBef>
                <a:spcPts val="0"/>
              </a:spcBef>
              <a:spcAft>
                <a:spcPts val="0"/>
              </a:spcAft>
              <a:defRPr sz="1700" b="0">
                <a:solidFill>
                  <a:srgbClr val="192431"/>
                </a:solidFill>
                <a:latin typeface="IPAexGothic"/>
              </a:defRPr>
            </a:pPr>
            <a:r>
              <a:rPr>
                <a:ea typeface="IPAexGothic"/>
              </a:rPr>
              <a:t>管理ワーカーのコード</a:t>
            </a:r>
          </a:p>
          <a:p>
            <a:pPr>
              <a:lnSpc>
                <a:spcPts val="3229"/>
              </a:lnSpc>
              <a:spcBef>
                <a:spcPts val="0"/>
              </a:spcBef>
              <a:spcAft>
                <a:spcPts val="0"/>
              </a:spcAft>
              <a:defRPr sz="1700" b="0">
                <a:solidFill>
                  <a:srgbClr val="192431"/>
                </a:solidFill>
                <a:latin typeface="IPAexGothic"/>
              </a:defRPr>
            </a:pPr>
            <a:r>
              <a:rPr>
                <a:ea typeface="IPAexGothic"/>
              </a:rPr>
              <a:t>期待出力と計測メタデータ</a:t>
            </a:r>
          </a:p>
        </p:txBody>
      </p:sp>
      <p:sp>
        <p:nvSpPr>
          <p:cNvPr id="16" name="TextBox 15"/>
          <p:cNvSpPr txBox="1"/>
          <p:nvPr/>
        </p:nvSpPr>
        <p:spPr>
          <a:xfrm>
            <a:off x="8178800" y="4406900"/>
            <a:ext cx="3416300" cy="797560"/>
          </a:xfrm>
          <a:prstGeom prst="rect">
            <a:avLst/>
          </a:prstGeom>
          <a:noFill/>
        </p:spPr>
        <p:txBody>
          <a:bodyPr wrap="none" lIns="0" rIns="0" tIns="0" bIns="0">
            <a:spAutoFit/>
          </a:bodyPr>
          <a:lstStyle/>
          <a:p>
            <a:pPr>
              <a:lnSpc>
                <a:spcPts val="2940"/>
              </a:lnSpc>
              <a:spcBef>
                <a:spcPts val="0"/>
              </a:spcBef>
              <a:spcAft>
                <a:spcPts val="0"/>
              </a:spcAft>
              <a:defRPr sz="2100" b="0">
                <a:solidFill>
                  <a:srgbClr val="18794E"/>
                </a:solidFill>
                <a:latin typeface="IPAexGothic"/>
              </a:defRPr>
            </a:pPr>
            <a:r>
              <a:rPr>
                <a:ea typeface="IPAexGothic"/>
              </a:rPr>
              <a:t>ケース終了後に</a:t>
            </a:r>
          </a:p>
          <a:p>
            <a:pPr>
              <a:lnSpc>
                <a:spcPts val="2940"/>
              </a:lnSpc>
              <a:spcBef>
                <a:spcPts val="0"/>
              </a:spcBef>
              <a:spcAft>
                <a:spcPts val="0"/>
              </a:spcAft>
              <a:defRPr sz="2100" b="0">
                <a:solidFill>
                  <a:srgbClr val="18794E"/>
                </a:solidFill>
                <a:latin typeface="IPAexGothic"/>
              </a:defRPr>
            </a:pPr>
            <a:r>
              <a:rPr>
                <a:ea typeface="IPAexGothic"/>
              </a:rPr>
              <a:t>作業領域と子孫を回収</a:t>
            </a:r>
          </a:p>
        </p:txBody>
      </p:sp>
      <p:sp>
        <p:nvSpPr>
          <p:cNvPr id="17" name="TextBox 16"/>
          <p:cNvSpPr txBox="1"/>
          <p:nvPr/>
        </p:nvSpPr>
        <p:spPr>
          <a:xfrm>
            <a:off x="609600" y="5778500"/>
            <a:ext cx="109728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65717C"/>
                </a:solidFill>
                <a:latin typeface="IPAexGothic"/>
              </a:defRPr>
            </a:pPr>
            <a:r>
              <a:rPr>
                <a:ea typeface="IPAexGothic"/>
              </a:rPr>
              <a:t>境界：提出と管理処理は同じカーネルを共有する。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09  RESOURCE ACCOUNTING</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資源を制限し、判定の根拠を記録する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10 / 17</a:t>
            </a:r>
          </a:p>
        </p:txBody>
      </p:sp>
      <p:sp>
        <p:nvSpPr>
          <p:cNvPr id="8" name="TextBox 7"/>
          <p:cNvSpPr txBox="1"/>
          <p:nvPr/>
        </p:nvSpPr>
        <p:spPr>
          <a:xfrm>
            <a:off x="609600" y="2006600"/>
            <a:ext cx="3492500" cy="726440"/>
          </a:xfrm>
          <a:prstGeom prst="rect">
            <a:avLst/>
          </a:prstGeom>
          <a:noFill/>
        </p:spPr>
        <p:txBody>
          <a:bodyPr wrap="none" lIns="0" rIns="0" tIns="0" bIns="0">
            <a:spAutoFit/>
          </a:bodyPr>
          <a:lstStyle/>
          <a:p>
            <a:pPr>
              <a:lnSpc>
                <a:spcPts val="5320"/>
              </a:lnSpc>
              <a:spcBef>
                <a:spcPts val="0"/>
              </a:spcBef>
              <a:spcAft>
                <a:spcPts val="0"/>
              </a:spcAft>
              <a:defRPr sz="3800" b="0">
                <a:solidFill>
                  <a:srgbClr val="18794E"/>
                </a:solidFill>
                <a:latin typeface="IPAexGothic"/>
              </a:defRPr>
            </a:pPr>
            <a:r>
              <a:rPr>
                <a:ea typeface="IPAexGothic"/>
              </a:rPr>
              <a:t>100–5,000</a:t>
            </a:r>
          </a:p>
        </p:txBody>
      </p:sp>
      <p:sp>
        <p:nvSpPr>
          <p:cNvPr id="9" name="TextBox 8"/>
          <p:cNvSpPr txBox="1"/>
          <p:nvPr/>
        </p:nvSpPr>
        <p:spPr>
          <a:xfrm>
            <a:off x="609600" y="2755900"/>
            <a:ext cx="3492500" cy="370840"/>
          </a:xfrm>
          <a:prstGeom prst="rect">
            <a:avLst/>
          </a:prstGeom>
          <a:noFill/>
        </p:spPr>
        <p:txBody>
          <a:bodyPr wrap="none" lIns="0" rIns="0" tIns="0" bIns="0">
            <a:spAutoFit/>
          </a:bodyPr>
          <a:lstStyle/>
          <a:p>
            <a:pPr>
              <a:lnSpc>
                <a:spcPts val="2520"/>
              </a:lnSpc>
              <a:spcBef>
                <a:spcPts val="0"/>
              </a:spcBef>
              <a:spcAft>
                <a:spcPts val="0"/>
              </a:spcAft>
              <a:defRPr sz="1800" b="0">
                <a:solidFill>
                  <a:srgbClr val="65717C"/>
                </a:solidFill>
                <a:latin typeface="IPAexGothic"/>
              </a:defRPr>
            </a:pPr>
            <a:r>
              <a:rPr>
                <a:ea typeface="IPAexGothic"/>
              </a:rPr>
              <a:t>ms</a:t>
            </a:r>
          </a:p>
        </p:txBody>
      </p:sp>
      <p:sp>
        <p:nvSpPr>
          <p:cNvPr id="10" name="TextBox 9"/>
          <p:cNvSpPr txBox="1"/>
          <p:nvPr/>
        </p:nvSpPr>
        <p:spPr>
          <a:xfrm>
            <a:off x="609600" y="3314700"/>
            <a:ext cx="35433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ケースのCPU時間</a:t>
            </a:r>
          </a:p>
        </p:txBody>
      </p:sp>
      <p:sp>
        <p:nvSpPr>
          <p:cNvPr id="11" name="TextBox 10"/>
          <p:cNvSpPr txBox="1"/>
          <p:nvPr/>
        </p:nvSpPr>
        <p:spPr>
          <a:xfrm>
            <a:off x="4495800" y="2006600"/>
            <a:ext cx="3492500" cy="726440"/>
          </a:xfrm>
          <a:prstGeom prst="rect">
            <a:avLst/>
          </a:prstGeom>
          <a:noFill/>
        </p:spPr>
        <p:txBody>
          <a:bodyPr wrap="none" lIns="0" rIns="0" tIns="0" bIns="0">
            <a:spAutoFit/>
          </a:bodyPr>
          <a:lstStyle/>
          <a:p>
            <a:pPr>
              <a:lnSpc>
                <a:spcPts val="5320"/>
              </a:lnSpc>
              <a:spcBef>
                <a:spcPts val="0"/>
              </a:spcBef>
              <a:spcAft>
                <a:spcPts val="0"/>
              </a:spcAft>
              <a:defRPr sz="3800" b="0">
                <a:solidFill>
                  <a:srgbClr val="18794E"/>
                </a:solidFill>
                <a:latin typeface="IPAexGothic"/>
              </a:defRPr>
            </a:pPr>
            <a:r>
              <a:rPr>
                <a:ea typeface="IPAexGothic"/>
              </a:rPr>
              <a:t>64–512</a:t>
            </a:r>
          </a:p>
        </p:txBody>
      </p:sp>
      <p:sp>
        <p:nvSpPr>
          <p:cNvPr id="12" name="TextBox 11"/>
          <p:cNvSpPr txBox="1"/>
          <p:nvPr/>
        </p:nvSpPr>
        <p:spPr>
          <a:xfrm>
            <a:off x="4495800" y="2755900"/>
            <a:ext cx="3492500" cy="370840"/>
          </a:xfrm>
          <a:prstGeom prst="rect">
            <a:avLst/>
          </a:prstGeom>
          <a:noFill/>
        </p:spPr>
        <p:txBody>
          <a:bodyPr wrap="none" lIns="0" rIns="0" tIns="0" bIns="0">
            <a:spAutoFit/>
          </a:bodyPr>
          <a:lstStyle/>
          <a:p>
            <a:pPr>
              <a:lnSpc>
                <a:spcPts val="2520"/>
              </a:lnSpc>
              <a:spcBef>
                <a:spcPts val="0"/>
              </a:spcBef>
              <a:spcAft>
                <a:spcPts val="0"/>
              </a:spcAft>
              <a:defRPr sz="1800" b="0">
                <a:solidFill>
                  <a:srgbClr val="65717C"/>
                </a:solidFill>
                <a:latin typeface="IPAexGothic"/>
              </a:defRPr>
            </a:pPr>
            <a:r>
              <a:rPr>
                <a:ea typeface="IPAexGothic"/>
              </a:rPr>
              <a:t>MiB</a:t>
            </a:r>
          </a:p>
        </p:txBody>
      </p:sp>
      <p:sp>
        <p:nvSpPr>
          <p:cNvPr id="13" name="TextBox 12"/>
          <p:cNvSpPr txBox="1"/>
          <p:nvPr/>
        </p:nvSpPr>
        <p:spPr>
          <a:xfrm>
            <a:off x="4495800" y="3314700"/>
            <a:ext cx="35433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問題ごとのメモリ上限</a:t>
            </a:r>
          </a:p>
        </p:txBody>
      </p:sp>
      <p:sp>
        <p:nvSpPr>
          <p:cNvPr id="14" name="TextBox 13"/>
          <p:cNvSpPr txBox="1"/>
          <p:nvPr/>
        </p:nvSpPr>
        <p:spPr>
          <a:xfrm>
            <a:off x="8382000" y="2006600"/>
            <a:ext cx="3492500" cy="726440"/>
          </a:xfrm>
          <a:prstGeom prst="rect">
            <a:avLst/>
          </a:prstGeom>
          <a:noFill/>
        </p:spPr>
        <p:txBody>
          <a:bodyPr wrap="none" lIns="0" rIns="0" tIns="0" bIns="0">
            <a:spAutoFit/>
          </a:bodyPr>
          <a:lstStyle/>
          <a:p>
            <a:pPr>
              <a:lnSpc>
                <a:spcPts val="5320"/>
              </a:lnSpc>
              <a:spcBef>
                <a:spcPts val="0"/>
              </a:spcBef>
              <a:spcAft>
                <a:spcPts val="0"/>
              </a:spcAft>
              <a:defRPr sz="3800" b="0">
                <a:solidFill>
                  <a:srgbClr val="18794E"/>
                </a:solidFill>
                <a:latin typeface="IPAexGothic"/>
              </a:defRPr>
            </a:pPr>
            <a:r>
              <a:rPr>
                <a:ea typeface="IPAexGothic"/>
              </a:rPr>
              <a:t>1</a:t>
            </a:r>
          </a:p>
        </p:txBody>
      </p:sp>
      <p:sp>
        <p:nvSpPr>
          <p:cNvPr id="15" name="TextBox 14"/>
          <p:cNvSpPr txBox="1"/>
          <p:nvPr/>
        </p:nvSpPr>
        <p:spPr>
          <a:xfrm>
            <a:off x="8382000" y="2755900"/>
            <a:ext cx="3492500" cy="370840"/>
          </a:xfrm>
          <a:prstGeom prst="rect">
            <a:avLst/>
          </a:prstGeom>
          <a:noFill/>
        </p:spPr>
        <p:txBody>
          <a:bodyPr wrap="none" lIns="0" rIns="0" tIns="0" bIns="0">
            <a:spAutoFit/>
          </a:bodyPr>
          <a:lstStyle/>
          <a:p>
            <a:pPr>
              <a:lnSpc>
                <a:spcPts val="2520"/>
              </a:lnSpc>
              <a:spcBef>
                <a:spcPts val="0"/>
              </a:spcBef>
              <a:spcAft>
                <a:spcPts val="0"/>
              </a:spcAft>
              <a:defRPr sz="1800" b="0">
                <a:solidFill>
                  <a:srgbClr val="65717C"/>
                </a:solidFill>
                <a:latin typeface="IPAexGothic"/>
              </a:defRPr>
            </a:pPr>
            <a:r>
              <a:rPr>
                <a:ea typeface="IPAexGothic"/>
              </a:rPr>
              <a:t>提出 / ホスト</a:t>
            </a:r>
          </a:p>
        </p:txBody>
      </p:sp>
      <p:sp>
        <p:nvSpPr>
          <p:cNvPr id="16" name="TextBox 15"/>
          <p:cNvSpPr txBox="1"/>
          <p:nvPr/>
        </p:nvSpPr>
        <p:spPr>
          <a:xfrm>
            <a:off x="8382000" y="3314700"/>
            <a:ext cx="35433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ホスト内の同時採点</a:t>
            </a:r>
          </a:p>
        </p:txBody>
      </p:sp>
      <p:cxnSp>
        <p:nvCxnSpPr>
          <p:cNvPr id="17" name="Connector 16"/>
          <p:cNvCxnSpPr/>
          <p:nvPr/>
        </p:nvCxnSpPr>
        <p:spPr>
          <a:xfrm>
            <a:off x="609600" y="39878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600" y="4356100"/>
            <a:ext cx="1079500" cy="495300"/>
          </a:xfrm>
          <a:prstGeom prst="rect">
            <a:avLst/>
          </a:prstGeom>
          <a:noFill/>
        </p:spPr>
        <p:txBody>
          <a:bodyPr wrap="none" lIns="0" rIns="0" tIns="0" bIns="0">
            <a:spAutoFit/>
          </a:bodyPr>
          <a:lstStyle/>
          <a:p>
            <a:pPr>
              <a:lnSpc>
                <a:spcPts val="3500"/>
              </a:lnSpc>
              <a:spcBef>
                <a:spcPts val="0"/>
              </a:spcBef>
              <a:spcAft>
                <a:spcPts val="0"/>
              </a:spcAft>
              <a:defRPr sz="2500" b="0">
                <a:solidFill>
                  <a:srgbClr val="18794E"/>
                </a:solidFill>
                <a:latin typeface="IPAexGothic"/>
              </a:defRPr>
            </a:pPr>
            <a:r>
              <a:rPr>
                <a:ea typeface="IPAexGothic"/>
              </a:rPr>
              <a:t>TLE</a:t>
            </a:r>
          </a:p>
        </p:txBody>
      </p:sp>
      <p:sp>
        <p:nvSpPr>
          <p:cNvPr id="19" name="TextBox 18"/>
          <p:cNvSpPr txBox="1"/>
          <p:nvPr/>
        </p:nvSpPr>
        <p:spPr>
          <a:xfrm>
            <a:off x="2146300" y="4394200"/>
            <a:ext cx="94107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CPU時間と経過時間を別々に監視する。</a:t>
            </a:r>
          </a:p>
        </p:txBody>
      </p:sp>
      <p:sp>
        <p:nvSpPr>
          <p:cNvPr id="20" name="TextBox 19"/>
          <p:cNvSpPr txBox="1"/>
          <p:nvPr/>
        </p:nvSpPr>
        <p:spPr>
          <a:xfrm>
            <a:off x="609600" y="5041900"/>
            <a:ext cx="1079500" cy="495300"/>
          </a:xfrm>
          <a:prstGeom prst="rect">
            <a:avLst/>
          </a:prstGeom>
          <a:noFill/>
        </p:spPr>
        <p:txBody>
          <a:bodyPr wrap="none" lIns="0" rIns="0" tIns="0" bIns="0">
            <a:spAutoFit/>
          </a:bodyPr>
          <a:lstStyle/>
          <a:p>
            <a:pPr>
              <a:lnSpc>
                <a:spcPts val="3500"/>
              </a:lnSpc>
              <a:spcBef>
                <a:spcPts val="0"/>
              </a:spcBef>
              <a:spcAft>
                <a:spcPts val="0"/>
              </a:spcAft>
              <a:defRPr sz="2500" b="0">
                <a:solidFill>
                  <a:srgbClr val="18794E"/>
                </a:solidFill>
                <a:latin typeface="IPAexGothic"/>
              </a:defRPr>
            </a:pPr>
            <a:r>
              <a:rPr>
                <a:ea typeface="IPAexGothic"/>
              </a:rPr>
              <a:t>MLE</a:t>
            </a:r>
          </a:p>
        </p:txBody>
      </p:sp>
      <p:sp>
        <p:nvSpPr>
          <p:cNvPr id="21" name="TextBox 20"/>
          <p:cNvSpPr txBox="1"/>
          <p:nvPr/>
        </p:nvSpPr>
        <p:spPr>
          <a:xfrm>
            <a:off x="2146300" y="5041900"/>
            <a:ext cx="9410700" cy="774700"/>
          </a:xfrm>
          <a:prstGeom prst="rect">
            <a:avLst/>
          </a:prstGeom>
          <a:noFill/>
        </p:spPr>
        <p:txBody>
          <a:bodyPr wrap="none" lIns="0" rIns="0" tIns="0" bIns="0">
            <a:spAutoFit/>
          </a:bodyPr>
          <a:lstStyle/>
          <a:p>
            <a:pPr>
              <a:lnSpc>
                <a:spcPts val="2850"/>
              </a:lnSpc>
              <a:spcBef>
                <a:spcPts val="0"/>
              </a:spcBef>
              <a:spcAft>
                <a:spcPts val="0"/>
              </a:spcAft>
              <a:defRPr sz="1900" b="0">
                <a:solidFill>
                  <a:srgbClr val="192431"/>
                </a:solidFill>
                <a:latin typeface="IPAexGothic"/>
              </a:defRPr>
            </a:pPr>
            <a:r>
              <a:rPr>
                <a:ea typeface="IPAexGothic"/>
              </a:rPr>
              <a:t>ケースのcgroup OOMを根拠にする。</a:t>
            </a:r>
          </a:p>
          <a:p>
            <a:pPr>
              <a:lnSpc>
                <a:spcPts val="2850"/>
              </a:lnSpc>
              <a:spcBef>
                <a:spcPts val="0"/>
              </a:spcBef>
              <a:spcAft>
                <a:spcPts val="0"/>
              </a:spcAft>
              <a:defRPr sz="1900" b="0">
                <a:solidFill>
                  <a:srgbClr val="192431"/>
                </a:solidFill>
                <a:latin typeface="IPAexGothic"/>
              </a:defRPr>
            </a:pPr>
            <a:r>
              <a:rPr>
                <a:ea typeface="IPAexGothic"/>
              </a:rPr>
              <a:t>ホスト障害や計測不能はJEとして区別する。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10  JUDGE MODES</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問題に合わせて選ぶ3つの判定方法</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11 / 17</a:t>
            </a:r>
          </a:p>
        </p:txBody>
      </p:sp>
      <p:cxnSp>
        <p:nvCxnSpPr>
          <p:cNvPr id="8" name="Connector 7"/>
          <p:cNvCxnSpPr/>
          <p:nvPr/>
        </p:nvCxnSpPr>
        <p:spPr>
          <a:xfrm>
            <a:off x="609600" y="17272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1917700"/>
            <a:ext cx="3606800" cy="477519"/>
          </a:xfrm>
          <a:prstGeom prst="rect">
            <a:avLst/>
          </a:prstGeom>
          <a:noFill/>
        </p:spPr>
        <p:txBody>
          <a:bodyPr wrap="none" lIns="0" rIns="0" tIns="0" bIns="0">
            <a:spAutoFit/>
          </a:bodyPr>
          <a:lstStyle/>
          <a:p>
            <a:pPr>
              <a:lnSpc>
                <a:spcPts val="3359"/>
              </a:lnSpc>
              <a:spcBef>
                <a:spcPts val="0"/>
              </a:spcBef>
              <a:spcAft>
                <a:spcPts val="0"/>
              </a:spcAft>
              <a:defRPr sz="2400" b="0">
                <a:solidFill>
                  <a:srgbClr val="18794E"/>
                </a:solidFill>
                <a:latin typeface="IPAexGothic"/>
              </a:defRPr>
            </a:pPr>
            <a:r>
              <a:rPr>
                <a:ea typeface="IPAexGothic"/>
              </a:rPr>
              <a:t>通常判定</a:t>
            </a:r>
          </a:p>
        </p:txBody>
      </p:sp>
      <p:sp>
        <p:nvSpPr>
          <p:cNvPr id="10" name="TextBox 9"/>
          <p:cNvSpPr txBox="1"/>
          <p:nvPr/>
        </p:nvSpPr>
        <p:spPr>
          <a:xfrm>
            <a:off x="4508500" y="1879600"/>
            <a:ext cx="70739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出力を期待出力と比較</a:t>
            </a:r>
          </a:p>
        </p:txBody>
      </p:sp>
      <p:sp>
        <p:nvSpPr>
          <p:cNvPr id="11" name="TextBox 10"/>
          <p:cNvSpPr txBox="1"/>
          <p:nvPr/>
        </p:nvSpPr>
        <p:spPr>
          <a:xfrm>
            <a:off x="4508500" y="2400300"/>
            <a:ext cx="70739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65717C"/>
                </a:solidFill>
                <a:latin typeface="IPAexGothic"/>
              </a:defRPr>
            </a:pPr>
            <a:r>
              <a:rPr>
                <a:ea typeface="IPAexGothic"/>
              </a:rPr>
              <a:t>入力 → 提出 → 出力比較</a:t>
            </a:r>
          </a:p>
        </p:txBody>
      </p:sp>
      <p:cxnSp>
        <p:nvCxnSpPr>
          <p:cNvPr id="12" name="Connector 11"/>
          <p:cNvCxnSpPr/>
          <p:nvPr/>
        </p:nvCxnSpPr>
        <p:spPr>
          <a:xfrm>
            <a:off x="609600" y="30353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3225800"/>
            <a:ext cx="3606800" cy="477519"/>
          </a:xfrm>
          <a:prstGeom prst="rect">
            <a:avLst/>
          </a:prstGeom>
          <a:noFill/>
        </p:spPr>
        <p:txBody>
          <a:bodyPr wrap="none" lIns="0" rIns="0" tIns="0" bIns="0">
            <a:spAutoFit/>
          </a:bodyPr>
          <a:lstStyle/>
          <a:p>
            <a:pPr>
              <a:lnSpc>
                <a:spcPts val="3359"/>
              </a:lnSpc>
              <a:spcBef>
                <a:spcPts val="0"/>
              </a:spcBef>
              <a:spcAft>
                <a:spcPts val="0"/>
              </a:spcAft>
              <a:defRPr sz="2400" b="0">
                <a:solidFill>
                  <a:srgbClr val="18794E"/>
                </a:solidFill>
                <a:latin typeface="IPAexGothic"/>
              </a:defRPr>
            </a:pPr>
            <a:r>
              <a:rPr>
                <a:ea typeface="IPAexGothic"/>
              </a:rPr>
              <a:t>スペシャルジャッジ</a:t>
            </a:r>
          </a:p>
        </p:txBody>
      </p:sp>
      <p:sp>
        <p:nvSpPr>
          <p:cNvPr id="14" name="TextBox 13"/>
          <p:cNvSpPr txBox="1"/>
          <p:nvPr/>
        </p:nvSpPr>
        <p:spPr>
          <a:xfrm>
            <a:off x="4508500" y="3187700"/>
            <a:ext cx="70739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複数の正解を検証コードで判定</a:t>
            </a:r>
          </a:p>
        </p:txBody>
      </p:sp>
      <p:sp>
        <p:nvSpPr>
          <p:cNvPr id="15" name="TextBox 14"/>
          <p:cNvSpPr txBox="1"/>
          <p:nvPr/>
        </p:nvSpPr>
        <p:spPr>
          <a:xfrm>
            <a:off x="4508500" y="3708400"/>
            <a:ext cx="70739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65717C"/>
                </a:solidFill>
                <a:latin typeface="IPAexGothic"/>
              </a:defRPr>
            </a:pPr>
            <a:r>
              <a:rPr>
                <a:ea typeface="IPAexGothic"/>
              </a:rPr>
              <a:t>提出 → 出力 → 検証コード</a:t>
            </a:r>
          </a:p>
        </p:txBody>
      </p:sp>
      <p:cxnSp>
        <p:nvCxnSpPr>
          <p:cNvPr id="16" name="Connector 15"/>
          <p:cNvCxnSpPr/>
          <p:nvPr/>
        </p:nvCxnSpPr>
        <p:spPr>
          <a:xfrm>
            <a:off x="609600" y="43434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4533900"/>
            <a:ext cx="3606800" cy="477519"/>
          </a:xfrm>
          <a:prstGeom prst="rect">
            <a:avLst/>
          </a:prstGeom>
          <a:noFill/>
        </p:spPr>
        <p:txBody>
          <a:bodyPr wrap="none" lIns="0" rIns="0" tIns="0" bIns="0">
            <a:spAutoFit/>
          </a:bodyPr>
          <a:lstStyle/>
          <a:p>
            <a:pPr>
              <a:lnSpc>
                <a:spcPts val="3359"/>
              </a:lnSpc>
              <a:spcBef>
                <a:spcPts val="0"/>
              </a:spcBef>
              <a:spcAft>
                <a:spcPts val="0"/>
              </a:spcAft>
              <a:defRPr sz="2400" b="0">
                <a:solidFill>
                  <a:srgbClr val="18794E"/>
                </a:solidFill>
                <a:latin typeface="IPAexGothic"/>
              </a:defRPr>
            </a:pPr>
            <a:r>
              <a:rPr>
                <a:ea typeface="IPAexGothic"/>
              </a:rPr>
              <a:t>対話形式</a:t>
            </a:r>
          </a:p>
        </p:txBody>
      </p:sp>
      <p:sp>
        <p:nvSpPr>
          <p:cNvPr id="18" name="TextBox 17"/>
          <p:cNvSpPr txBox="1"/>
          <p:nvPr/>
        </p:nvSpPr>
        <p:spPr>
          <a:xfrm>
            <a:off x="4508500" y="4495800"/>
            <a:ext cx="70739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質問と応答を交わす問題</a:t>
            </a:r>
          </a:p>
        </p:txBody>
      </p:sp>
      <p:sp>
        <p:nvSpPr>
          <p:cNvPr id="19" name="TextBox 18"/>
          <p:cNvSpPr txBox="1"/>
          <p:nvPr/>
        </p:nvSpPr>
        <p:spPr>
          <a:xfrm>
            <a:off x="4508500" y="5016500"/>
            <a:ext cx="7073900" cy="406400"/>
          </a:xfrm>
          <a:prstGeom prst="rect">
            <a:avLst/>
          </a:prstGeom>
          <a:noFill/>
        </p:spPr>
        <p:txBody>
          <a:bodyPr wrap="none" lIns="0" rIns="0" tIns="0" bIns="0">
            <a:spAutoFit/>
          </a:bodyPr>
          <a:lstStyle/>
          <a:p>
            <a:pPr>
              <a:lnSpc>
                <a:spcPts val="2800"/>
              </a:lnSpc>
              <a:spcBef>
                <a:spcPts val="0"/>
              </a:spcBef>
              <a:spcAft>
                <a:spcPts val="0"/>
              </a:spcAft>
              <a:defRPr sz="2000" b="0">
                <a:solidFill>
                  <a:srgbClr val="65717C"/>
                </a:solidFill>
                <a:latin typeface="IPAexGothic"/>
              </a:defRPr>
            </a:pPr>
            <a:r>
              <a:rPr>
                <a:ea typeface="IPAexGothic"/>
              </a:rPr>
              <a:t>提出 ↔ 中継 ↔ 対話用ジャッジ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11  RUNTIMES</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言語環境を固定し、検証して公開する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12 / 17</a:t>
            </a:r>
          </a:p>
        </p:txBody>
      </p:sp>
      <p:sp>
        <p:nvSpPr>
          <p:cNvPr id="8" name="TextBox 7"/>
          <p:cNvSpPr txBox="1"/>
          <p:nvPr/>
        </p:nvSpPr>
        <p:spPr>
          <a:xfrm>
            <a:off x="609600" y="1879600"/>
            <a:ext cx="5842000" cy="317500"/>
          </a:xfrm>
          <a:prstGeom prst="rect">
            <a:avLst/>
          </a:prstGeom>
          <a:noFill/>
        </p:spPr>
        <p:txBody>
          <a:bodyPr wrap="none" lIns="0" rIns="0" tIns="0" bIns="0">
            <a:spAutoFit/>
          </a:bodyPr>
          <a:lstStyle/>
          <a:p>
            <a:pPr>
              <a:lnSpc>
                <a:spcPts val="2100"/>
              </a:lnSpc>
              <a:spcBef>
                <a:spcPts val="0"/>
              </a:spcBef>
              <a:spcAft>
                <a:spcPts val="0"/>
              </a:spcAft>
              <a:defRPr sz="1500" b="0">
                <a:solidFill>
                  <a:srgbClr val="65717C"/>
                </a:solidFill>
                <a:latin typeface="IPAexGothic"/>
              </a:defRPr>
            </a:pPr>
            <a:r>
              <a:rPr>
                <a:ea typeface="IPAexGothic"/>
              </a:rPr>
              <a:t>言語ガイドに掲載される環境</a:t>
            </a:r>
          </a:p>
        </p:txBody>
      </p:sp>
      <p:sp>
        <p:nvSpPr>
          <p:cNvPr id="9" name="TextBox 8"/>
          <p:cNvSpPr txBox="1"/>
          <p:nvPr/>
        </p:nvSpPr>
        <p:spPr>
          <a:xfrm>
            <a:off x="609600" y="2400300"/>
            <a:ext cx="6286500" cy="2273300"/>
          </a:xfrm>
          <a:prstGeom prst="rect">
            <a:avLst/>
          </a:prstGeom>
          <a:noFill/>
        </p:spPr>
        <p:txBody>
          <a:bodyPr wrap="none" lIns="0" rIns="0" tIns="0" bIns="0">
            <a:spAutoFit/>
          </a:bodyPr>
          <a:lstStyle/>
          <a:p>
            <a:pPr>
              <a:lnSpc>
                <a:spcPts val="4375"/>
              </a:lnSpc>
              <a:spcBef>
                <a:spcPts val="0"/>
              </a:spcBef>
              <a:spcAft>
                <a:spcPts val="0"/>
              </a:spcAft>
              <a:defRPr sz="2500" b="0">
                <a:solidFill>
                  <a:srgbClr val="192431"/>
                </a:solidFill>
                <a:latin typeface="IPAexGothic"/>
              </a:defRPr>
            </a:pPr>
            <a:r>
              <a:rPr>
                <a:ea typeface="IPAexGothic"/>
              </a:rPr>
              <a:t>C / C++ / Rust</a:t>
            </a:r>
          </a:p>
          <a:p>
            <a:pPr>
              <a:lnSpc>
                <a:spcPts val="4375"/>
              </a:lnSpc>
              <a:spcBef>
                <a:spcPts val="0"/>
              </a:spcBef>
              <a:spcAft>
                <a:spcPts val="0"/>
              </a:spcAft>
              <a:defRPr sz="2500" b="0">
                <a:solidFill>
                  <a:srgbClr val="192431"/>
                </a:solidFill>
                <a:latin typeface="IPAexGothic"/>
              </a:defRPr>
            </a:pPr>
            <a:r>
              <a:rPr>
                <a:ea typeface="IPAexGothic"/>
              </a:rPr>
              <a:t>Python / Java / C#</a:t>
            </a:r>
          </a:p>
          <a:p>
            <a:pPr>
              <a:lnSpc>
                <a:spcPts val="4375"/>
              </a:lnSpc>
              <a:spcBef>
                <a:spcPts val="0"/>
              </a:spcBef>
              <a:spcAft>
                <a:spcPts val="0"/>
              </a:spcAft>
              <a:defRPr sz="2500" b="0">
                <a:solidFill>
                  <a:srgbClr val="192431"/>
                </a:solidFill>
                <a:latin typeface="IPAexGothic"/>
              </a:defRPr>
            </a:pPr>
            <a:r>
              <a:rPr>
                <a:ea typeface="IPAexGothic"/>
              </a:rPr>
              <a:t>Go / Nim / Haskell</a:t>
            </a:r>
          </a:p>
          <a:p>
            <a:pPr>
              <a:lnSpc>
                <a:spcPts val="4375"/>
              </a:lnSpc>
              <a:spcBef>
                <a:spcPts val="0"/>
              </a:spcBef>
              <a:spcAft>
                <a:spcPts val="0"/>
              </a:spcAft>
              <a:defRPr sz="2500" b="0">
                <a:solidFill>
                  <a:srgbClr val="192431"/>
                </a:solidFill>
                <a:latin typeface="IPAexGothic"/>
              </a:defRPr>
            </a:pPr>
            <a:r>
              <a:rPr>
                <a:ea typeface="IPAexGothic"/>
              </a:rPr>
              <a:t>JavaScript / TypeScript / Ruby</a:t>
            </a:r>
          </a:p>
        </p:txBody>
      </p:sp>
      <p:cxnSp>
        <p:nvCxnSpPr>
          <p:cNvPr id="10" name="Connector 9"/>
          <p:cNvCxnSpPr/>
          <p:nvPr/>
        </p:nvCxnSpPr>
        <p:spPr>
          <a:xfrm>
            <a:off x="7239000" y="1905000"/>
            <a:ext cx="0" cy="341630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810500" y="2082800"/>
            <a:ext cx="1206500" cy="513080"/>
          </a:xfrm>
          <a:prstGeom prst="rect">
            <a:avLst/>
          </a:prstGeom>
          <a:noFill/>
        </p:spPr>
        <p:txBody>
          <a:bodyPr wrap="none" lIns="0" rIns="0" tIns="0" bIns="0">
            <a:spAutoFit/>
          </a:bodyPr>
          <a:lstStyle/>
          <a:p>
            <a:pPr>
              <a:lnSpc>
                <a:spcPts val="3640"/>
              </a:lnSpc>
              <a:spcBef>
                <a:spcPts val="0"/>
              </a:spcBef>
              <a:spcAft>
                <a:spcPts val="0"/>
              </a:spcAft>
              <a:defRPr sz="2600" b="0">
                <a:solidFill>
                  <a:srgbClr val="18794E"/>
                </a:solidFill>
                <a:latin typeface="IPAexGothic"/>
              </a:defRPr>
            </a:pPr>
            <a:r>
              <a:rPr>
                <a:ea typeface="IPAexGothic"/>
              </a:rPr>
              <a:t>固定</a:t>
            </a:r>
          </a:p>
        </p:txBody>
      </p:sp>
      <p:sp>
        <p:nvSpPr>
          <p:cNvPr id="12" name="TextBox 11"/>
          <p:cNvSpPr txBox="1"/>
          <p:nvPr/>
        </p:nvSpPr>
        <p:spPr>
          <a:xfrm>
            <a:off x="7810500" y="2603500"/>
            <a:ext cx="3759200" cy="335280"/>
          </a:xfrm>
          <a:prstGeom prst="rect">
            <a:avLst/>
          </a:prstGeom>
          <a:noFill/>
        </p:spPr>
        <p:txBody>
          <a:bodyPr wrap="none" lIns="0" rIns="0" tIns="0" bIns="0">
            <a:spAutoFit/>
          </a:bodyPr>
          <a:lstStyle/>
          <a:p>
            <a:pPr>
              <a:lnSpc>
                <a:spcPts val="2240"/>
              </a:lnSpc>
              <a:spcBef>
                <a:spcPts val="0"/>
              </a:spcBef>
              <a:spcAft>
                <a:spcPts val="0"/>
              </a:spcAft>
              <a:defRPr sz="1600" b="0">
                <a:solidFill>
                  <a:srgbClr val="192431"/>
                </a:solidFill>
                <a:latin typeface="IPAexGothic"/>
              </a:defRPr>
            </a:pPr>
            <a:r>
              <a:rPr>
                <a:ea typeface="IPAexGothic"/>
              </a:rPr>
              <a:t>コンパイラとライブラリの版</a:t>
            </a:r>
          </a:p>
        </p:txBody>
      </p:sp>
      <p:sp>
        <p:nvSpPr>
          <p:cNvPr id="13" name="TextBox 12"/>
          <p:cNvSpPr txBox="1"/>
          <p:nvPr/>
        </p:nvSpPr>
        <p:spPr>
          <a:xfrm>
            <a:off x="7810500" y="3200400"/>
            <a:ext cx="1206500" cy="513080"/>
          </a:xfrm>
          <a:prstGeom prst="rect">
            <a:avLst/>
          </a:prstGeom>
          <a:noFill/>
        </p:spPr>
        <p:txBody>
          <a:bodyPr wrap="none" lIns="0" rIns="0" tIns="0" bIns="0">
            <a:spAutoFit/>
          </a:bodyPr>
          <a:lstStyle/>
          <a:p>
            <a:pPr>
              <a:lnSpc>
                <a:spcPts val="3640"/>
              </a:lnSpc>
              <a:spcBef>
                <a:spcPts val="0"/>
              </a:spcBef>
              <a:spcAft>
                <a:spcPts val="0"/>
              </a:spcAft>
              <a:defRPr sz="2600" b="0">
                <a:solidFill>
                  <a:srgbClr val="18794E"/>
                </a:solidFill>
                <a:latin typeface="IPAexGothic"/>
              </a:defRPr>
            </a:pPr>
            <a:r>
              <a:rPr>
                <a:ea typeface="IPAexGothic"/>
              </a:rPr>
              <a:t>検証</a:t>
            </a:r>
          </a:p>
        </p:txBody>
      </p:sp>
      <p:sp>
        <p:nvSpPr>
          <p:cNvPr id="14" name="TextBox 13"/>
          <p:cNvSpPr txBox="1"/>
          <p:nvPr/>
        </p:nvSpPr>
        <p:spPr>
          <a:xfrm>
            <a:off x="7810500" y="3721100"/>
            <a:ext cx="3759200" cy="335280"/>
          </a:xfrm>
          <a:prstGeom prst="rect">
            <a:avLst/>
          </a:prstGeom>
          <a:noFill/>
        </p:spPr>
        <p:txBody>
          <a:bodyPr wrap="none" lIns="0" rIns="0" tIns="0" bIns="0">
            <a:spAutoFit/>
          </a:bodyPr>
          <a:lstStyle/>
          <a:p>
            <a:pPr>
              <a:lnSpc>
                <a:spcPts val="2240"/>
              </a:lnSpc>
              <a:spcBef>
                <a:spcPts val="0"/>
              </a:spcBef>
              <a:spcAft>
                <a:spcPts val="0"/>
              </a:spcAft>
              <a:defRPr sz="1600" b="0">
                <a:solidFill>
                  <a:srgbClr val="192431"/>
                </a:solidFill>
                <a:latin typeface="IPAexGothic"/>
              </a:defRPr>
            </a:pPr>
            <a:r>
              <a:rPr>
                <a:ea typeface="IPAexGothic"/>
              </a:rPr>
              <a:t>実機smokeと資源制限</a:t>
            </a:r>
          </a:p>
        </p:txBody>
      </p:sp>
      <p:sp>
        <p:nvSpPr>
          <p:cNvPr id="15" name="TextBox 14"/>
          <p:cNvSpPr txBox="1"/>
          <p:nvPr/>
        </p:nvSpPr>
        <p:spPr>
          <a:xfrm>
            <a:off x="7810500" y="4318000"/>
            <a:ext cx="1206500" cy="513080"/>
          </a:xfrm>
          <a:prstGeom prst="rect">
            <a:avLst/>
          </a:prstGeom>
          <a:noFill/>
        </p:spPr>
        <p:txBody>
          <a:bodyPr wrap="none" lIns="0" rIns="0" tIns="0" bIns="0">
            <a:spAutoFit/>
          </a:bodyPr>
          <a:lstStyle/>
          <a:p>
            <a:pPr>
              <a:lnSpc>
                <a:spcPts val="3640"/>
              </a:lnSpc>
              <a:spcBef>
                <a:spcPts val="0"/>
              </a:spcBef>
              <a:spcAft>
                <a:spcPts val="0"/>
              </a:spcAft>
              <a:defRPr sz="2600" b="0">
                <a:solidFill>
                  <a:srgbClr val="18794E"/>
                </a:solidFill>
                <a:latin typeface="IPAexGothic"/>
              </a:defRPr>
            </a:pPr>
            <a:r>
              <a:rPr>
                <a:ea typeface="IPAexGothic"/>
              </a:rPr>
              <a:t>公開</a:t>
            </a:r>
          </a:p>
        </p:txBody>
      </p:sp>
      <p:sp>
        <p:nvSpPr>
          <p:cNvPr id="16" name="TextBox 15"/>
          <p:cNvSpPr txBox="1"/>
          <p:nvPr/>
        </p:nvSpPr>
        <p:spPr>
          <a:xfrm>
            <a:off x="7810500" y="4838700"/>
            <a:ext cx="3759200" cy="335280"/>
          </a:xfrm>
          <a:prstGeom prst="rect">
            <a:avLst/>
          </a:prstGeom>
          <a:noFill/>
        </p:spPr>
        <p:txBody>
          <a:bodyPr wrap="none" lIns="0" rIns="0" tIns="0" bIns="0">
            <a:spAutoFit/>
          </a:bodyPr>
          <a:lstStyle/>
          <a:p>
            <a:pPr>
              <a:lnSpc>
                <a:spcPts val="2240"/>
              </a:lnSpc>
              <a:spcBef>
                <a:spcPts val="0"/>
              </a:spcBef>
              <a:spcAft>
                <a:spcPts val="0"/>
              </a:spcAft>
              <a:defRPr sz="1600" b="0">
                <a:solidFill>
                  <a:srgbClr val="192431"/>
                </a:solidFill>
                <a:latin typeface="IPAexGothic"/>
              </a:defRPr>
            </a:pPr>
            <a:r>
              <a:rPr>
                <a:ea typeface="IPAexGothic"/>
              </a:rPr>
              <a:t>digestと受付対象を同期</a:t>
            </a:r>
          </a:p>
        </p:txBody>
      </p:sp>
      <p:sp>
        <p:nvSpPr>
          <p:cNvPr id="17" name="TextBox 16"/>
          <p:cNvSpPr txBox="1"/>
          <p:nvPr/>
        </p:nvSpPr>
        <p:spPr>
          <a:xfrm>
            <a:off x="609600" y="5702300"/>
            <a:ext cx="10972800" cy="370840"/>
          </a:xfrm>
          <a:prstGeom prst="rect">
            <a:avLst/>
          </a:prstGeom>
          <a:noFill/>
        </p:spPr>
        <p:txBody>
          <a:bodyPr wrap="none" lIns="0" rIns="0" tIns="0" bIns="0">
            <a:spAutoFit/>
          </a:bodyPr>
          <a:lstStyle/>
          <a:p>
            <a:pPr>
              <a:lnSpc>
                <a:spcPts val="2520"/>
              </a:lnSpc>
              <a:spcBef>
                <a:spcPts val="0"/>
              </a:spcBef>
              <a:spcAft>
                <a:spcPts val="0"/>
              </a:spcAft>
              <a:defRPr sz="1800" b="0">
                <a:solidFill>
                  <a:srgbClr val="65717C"/>
                </a:solidFill>
                <a:latin typeface="IPAexGothic"/>
              </a:defRPr>
            </a:pPr>
            <a:r>
              <a:rPr>
                <a:ea typeface="IPAexGothic"/>
              </a:rPr>
              <a:t>実際に選べる言語は、提出欄と GET /runtimes で確認。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12  WEB &amp; AUTH</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SSRと認証をサーバー側でつなぐ</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13 / 17</a:t>
            </a:r>
          </a:p>
        </p:txBody>
      </p:sp>
      <p:sp>
        <p:nvSpPr>
          <p:cNvPr id="8" name="Rectangle 7"/>
          <p:cNvSpPr/>
          <p:nvPr/>
        </p:nvSpPr>
        <p:spPr>
          <a:xfrm>
            <a:off x="609600" y="1943100"/>
            <a:ext cx="28194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095500"/>
            <a:ext cx="24638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Browser</a:t>
            </a:r>
          </a:p>
        </p:txBody>
      </p:sp>
      <p:sp>
        <p:nvSpPr>
          <p:cNvPr id="10" name="TextBox 9"/>
          <p:cNvSpPr txBox="1"/>
          <p:nvPr/>
        </p:nvSpPr>
        <p:spPr>
          <a:xfrm>
            <a:off x="787400" y="2489200"/>
            <a:ext cx="24638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HttpOnly Cookie</a:t>
            </a:r>
          </a:p>
        </p:txBody>
      </p:sp>
      <p:sp>
        <p:nvSpPr>
          <p:cNvPr id="11" name="Rectangle 10"/>
          <p:cNvSpPr/>
          <p:nvPr/>
        </p:nvSpPr>
        <p:spPr>
          <a:xfrm>
            <a:off x="4635500" y="1943100"/>
            <a:ext cx="28194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3300" y="2095500"/>
            <a:ext cx="24638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Nuxt server</a:t>
            </a:r>
          </a:p>
        </p:txBody>
      </p:sp>
      <p:sp>
        <p:nvSpPr>
          <p:cNvPr id="13" name="TextBox 12"/>
          <p:cNvSpPr txBox="1"/>
          <p:nvPr/>
        </p:nvSpPr>
        <p:spPr>
          <a:xfrm>
            <a:off x="4813300" y="2489200"/>
            <a:ext cx="24638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SSR / セッション更新</a:t>
            </a:r>
          </a:p>
        </p:txBody>
      </p:sp>
      <p:sp>
        <p:nvSpPr>
          <p:cNvPr id="14" name="Rectangle 13"/>
          <p:cNvSpPr/>
          <p:nvPr/>
        </p:nvSpPr>
        <p:spPr>
          <a:xfrm>
            <a:off x="8661400" y="1943100"/>
            <a:ext cx="2921000" cy="9906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9200" y="2095500"/>
            <a:ext cx="2565400" cy="370840"/>
          </a:xfrm>
          <a:prstGeom prst="rect">
            <a:avLst/>
          </a:prstGeom>
          <a:noFill/>
        </p:spPr>
        <p:txBody>
          <a:bodyPr wrap="none" lIns="0" rIns="0" tIns="0" bIns="0">
            <a:spAutoFit/>
          </a:bodyPr>
          <a:lstStyle/>
          <a:p>
            <a:pPr>
              <a:lnSpc>
                <a:spcPts val="2520"/>
              </a:lnSpc>
              <a:spcBef>
                <a:spcPts val="0"/>
              </a:spcBef>
              <a:spcAft>
                <a:spcPts val="0"/>
              </a:spcAft>
              <a:defRPr sz="1800" b="1">
                <a:solidFill>
                  <a:srgbClr val="18794E"/>
                </a:solidFill>
                <a:latin typeface="IPAexGothic"/>
              </a:defRPr>
            </a:pPr>
            <a:r>
              <a:rPr>
                <a:ea typeface="IPAexGothic"/>
              </a:rPr>
              <a:t>Go API</a:t>
            </a:r>
          </a:p>
        </p:txBody>
      </p:sp>
      <p:sp>
        <p:nvSpPr>
          <p:cNvPr id="16" name="TextBox 15"/>
          <p:cNvSpPr txBox="1"/>
          <p:nvPr/>
        </p:nvSpPr>
        <p:spPr>
          <a:xfrm>
            <a:off x="8839200" y="2489200"/>
            <a:ext cx="25654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92431"/>
                </a:solidFill>
                <a:latin typeface="IPAexGothic"/>
              </a:defRPr>
            </a:pPr>
            <a:r>
              <a:rPr>
                <a:ea typeface="IPAexGothic"/>
              </a:rPr>
              <a:t>Bearer検証 / 認可</a:t>
            </a:r>
          </a:p>
        </p:txBody>
      </p:sp>
      <p:cxnSp>
        <p:nvCxnSpPr>
          <p:cNvPr id="17" name="Connector 16"/>
          <p:cNvCxnSpPr/>
          <p:nvPr/>
        </p:nvCxnSpPr>
        <p:spPr>
          <a:xfrm>
            <a:off x="3429000" y="2438400"/>
            <a:ext cx="1181100" cy="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4520937" y="2438400"/>
            <a:ext cx="89163" cy="48709"/>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520937" y="2389690"/>
            <a:ext cx="89163" cy="4871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54900" y="2438400"/>
            <a:ext cx="1181100" cy="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546837" y="2438400"/>
            <a:ext cx="89163" cy="48709"/>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8546837" y="2389690"/>
            <a:ext cx="89163" cy="48710"/>
          </a:xfrm>
          <a:prstGeom prst="line">
            <a:avLst/>
          </a:prstGeom>
          <a:ln w="25400">
            <a:solidFill>
              <a:srgbClr val="18794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3517900"/>
            <a:ext cx="3479800" cy="459739"/>
          </a:xfrm>
          <a:prstGeom prst="rect">
            <a:avLst/>
          </a:prstGeom>
          <a:noFill/>
        </p:spPr>
        <p:txBody>
          <a:bodyPr wrap="none" lIns="0" rIns="0" tIns="0" bIns="0">
            <a:spAutoFit/>
          </a:bodyPr>
          <a:lstStyle/>
          <a:p>
            <a:pPr>
              <a:lnSpc>
                <a:spcPts val="3219"/>
              </a:lnSpc>
              <a:spcBef>
                <a:spcPts val="0"/>
              </a:spcBef>
              <a:spcAft>
                <a:spcPts val="0"/>
              </a:spcAft>
              <a:defRPr sz="2300" b="0">
                <a:solidFill>
                  <a:srgbClr val="18794E"/>
                </a:solidFill>
                <a:latin typeface="IPAexGothic"/>
              </a:defRPr>
            </a:pPr>
            <a:r>
              <a:rPr>
                <a:ea typeface="IPAexGothic"/>
              </a:rPr>
              <a:t>読み始められる</a:t>
            </a:r>
          </a:p>
        </p:txBody>
      </p:sp>
      <p:sp>
        <p:nvSpPr>
          <p:cNvPr id="24" name="TextBox 23"/>
          <p:cNvSpPr txBox="1"/>
          <p:nvPr/>
        </p:nvSpPr>
        <p:spPr>
          <a:xfrm>
            <a:off x="4635500" y="3556000"/>
            <a:ext cx="69469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初回HTMLに問題文と数式を含める</a:t>
            </a:r>
          </a:p>
        </p:txBody>
      </p:sp>
      <p:sp>
        <p:nvSpPr>
          <p:cNvPr id="25" name="TextBox 24"/>
          <p:cNvSpPr txBox="1"/>
          <p:nvPr/>
        </p:nvSpPr>
        <p:spPr>
          <a:xfrm>
            <a:off x="609600" y="4254500"/>
            <a:ext cx="3479800" cy="459739"/>
          </a:xfrm>
          <a:prstGeom prst="rect">
            <a:avLst/>
          </a:prstGeom>
          <a:noFill/>
        </p:spPr>
        <p:txBody>
          <a:bodyPr wrap="none" lIns="0" rIns="0" tIns="0" bIns="0">
            <a:spAutoFit/>
          </a:bodyPr>
          <a:lstStyle/>
          <a:p>
            <a:pPr>
              <a:lnSpc>
                <a:spcPts val="3219"/>
              </a:lnSpc>
              <a:spcBef>
                <a:spcPts val="0"/>
              </a:spcBef>
              <a:spcAft>
                <a:spcPts val="0"/>
              </a:spcAft>
              <a:defRPr sz="2300" b="0">
                <a:solidFill>
                  <a:srgbClr val="18794E"/>
                </a:solidFill>
                <a:latin typeface="IPAexGothic"/>
              </a:defRPr>
            </a:pPr>
            <a:r>
              <a:rPr>
                <a:ea typeface="IPAexGothic"/>
              </a:rPr>
              <a:t>権限を確かめる</a:t>
            </a:r>
          </a:p>
        </p:txBody>
      </p:sp>
      <p:sp>
        <p:nvSpPr>
          <p:cNvPr id="26" name="TextBox 25"/>
          <p:cNvSpPr txBox="1"/>
          <p:nvPr/>
        </p:nvSpPr>
        <p:spPr>
          <a:xfrm>
            <a:off x="4635500" y="4292600"/>
            <a:ext cx="69469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認証に加えて、所有者と公開範囲を検証</a:t>
            </a:r>
          </a:p>
        </p:txBody>
      </p:sp>
      <p:sp>
        <p:nvSpPr>
          <p:cNvPr id="27" name="TextBox 26"/>
          <p:cNvSpPr txBox="1"/>
          <p:nvPr/>
        </p:nvSpPr>
        <p:spPr>
          <a:xfrm>
            <a:off x="609600" y="4991100"/>
            <a:ext cx="3479800" cy="459739"/>
          </a:xfrm>
          <a:prstGeom prst="rect">
            <a:avLst/>
          </a:prstGeom>
          <a:noFill/>
        </p:spPr>
        <p:txBody>
          <a:bodyPr wrap="none" lIns="0" rIns="0" tIns="0" bIns="0">
            <a:spAutoFit/>
          </a:bodyPr>
          <a:lstStyle/>
          <a:p>
            <a:pPr>
              <a:lnSpc>
                <a:spcPts val="3219"/>
              </a:lnSpc>
              <a:spcBef>
                <a:spcPts val="0"/>
              </a:spcBef>
              <a:spcAft>
                <a:spcPts val="0"/>
              </a:spcAft>
              <a:defRPr sz="2300" b="0">
                <a:solidFill>
                  <a:srgbClr val="18794E"/>
                </a:solidFill>
                <a:latin typeface="IPAexGothic"/>
              </a:defRPr>
            </a:pPr>
            <a:r>
              <a:rPr>
                <a:ea typeface="IPAexGothic"/>
              </a:rPr>
              <a:t>入力を制御する</a:t>
            </a:r>
          </a:p>
        </p:txBody>
      </p:sp>
      <p:sp>
        <p:nvSpPr>
          <p:cNvPr id="28" name="TextBox 27"/>
          <p:cNvSpPr txBox="1"/>
          <p:nvPr/>
        </p:nvSpPr>
        <p:spPr>
          <a:xfrm>
            <a:off x="4635500" y="5029200"/>
            <a:ext cx="69469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92431"/>
                </a:solidFill>
                <a:latin typeface="IPAexGothic"/>
              </a:defRPr>
            </a:pPr>
            <a:r>
              <a:rPr>
                <a:ea typeface="IPAexGothic"/>
              </a:rPr>
              <a:t>Markdownと数式の安全な描画、Origin検証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13  DELIVERY &amp; OPERATIONS</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配布の完了を、提出の成功まで確認する</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14 / 17</a:t>
            </a:r>
          </a:p>
        </p:txBody>
      </p:sp>
      <p:sp>
        <p:nvSpPr>
          <p:cNvPr id="8" name="TextBox 7"/>
          <p:cNvSpPr txBox="1"/>
          <p:nvPr/>
        </p:nvSpPr>
        <p:spPr>
          <a:xfrm>
            <a:off x="609600" y="1841500"/>
            <a:ext cx="10795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8794E"/>
                </a:solidFill>
                <a:latin typeface="IPAexGothic"/>
              </a:defRPr>
            </a:pPr>
            <a:r>
              <a:rPr>
                <a:ea typeface="IPAexGothic"/>
              </a:rPr>
              <a:t>WEB / API</a:t>
            </a:r>
          </a:p>
        </p:txBody>
      </p:sp>
      <p:sp>
        <p:nvSpPr>
          <p:cNvPr id="9" name="TextBox 8"/>
          <p:cNvSpPr txBox="1"/>
          <p:nvPr/>
        </p:nvSpPr>
        <p:spPr>
          <a:xfrm>
            <a:off x="609600" y="2247900"/>
            <a:ext cx="10972800" cy="441959"/>
          </a:xfrm>
          <a:prstGeom prst="rect">
            <a:avLst/>
          </a:prstGeom>
          <a:noFill/>
        </p:spPr>
        <p:txBody>
          <a:bodyPr wrap="none" lIns="0" rIns="0" tIns="0" bIns="0">
            <a:spAutoFit/>
          </a:bodyPr>
          <a:lstStyle/>
          <a:p>
            <a:pPr>
              <a:lnSpc>
                <a:spcPts val="3079"/>
              </a:lnSpc>
              <a:spcBef>
                <a:spcPts val="0"/>
              </a:spcBef>
              <a:spcAft>
                <a:spcPts val="0"/>
              </a:spcAft>
              <a:defRPr sz="2200" b="0">
                <a:solidFill>
                  <a:srgbClr val="192431"/>
                </a:solidFill>
                <a:latin typeface="IPAexGothic"/>
              </a:defRPr>
            </a:pPr>
            <a:r>
              <a:rPr>
                <a:ea typeface="IPAexGothic"/>
              </a:rPr>
              <a:t>型検査 → ビルド → ブラウザー検証 → 実DB連携テスト</a:t>
            </a:r>
          </a:p>
        </p:txBody>
      </p:sp>
      <p:cxnSp>
        <p:nvCxnSpPr>
          <p:cNvPr id="10" name="Connector 9"/>
          <p:cNvCxnSpPr/>
          <p:nvPr/>
        </p:nvCxnSpPr>
        <p:spPr>
          <a:xfrm>
            <a:off x="609600" y="29464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263900"/>
            <a:ext cx="10795000" cy="264159"/>
          </a:xfrm>
          <a:prstGeom prst="rect">
            <a:avLst/>
          </a:prstGeom>
          <a:noFill/>
        </p:spPr>
        <p:txBody>
          <a:bodyPr wrap="none" lIns="0" rIns="0" tIns="0" bIns="0">
            <a:spAutoFit/>
          </a:bodyPr>
          <a:lstStyle/>
          <a:p>
            <a:pPr>
              <a:lnSpc>
                <a:spcPts val="1679"/>
              </a:lnSpc>
              <a:spcBef>
                <a:spcPts val="0"/>
              </a:spcBef>
              <a:spcAft>
                <a:spcPts val="0"/>
              </a:spcAft>
              <a:defRPr sz="1200" b="0">
                <a:solidFill>
                  <a:srgbClr val="18794E"/>
                </a:solidFill>
                <a:latin typeface="IPAexGothic"/>
              </a:defRPr>
            </a:pPr>
            <a:r>
              <a:rPr>
                <a:ea typeface="IPAexGothic"/>
              </a:rPr>
              <a:t>JUDGE</a:t>
            </a:r>
          </a:p>
        </p:txBody>
      </p:sp>
      <p:sp>
        <p:nvSpPr>
          <p:cNvPr id="12" name="Rectangle 11"/>
          <p:cNvSpPr/>
          <p:nvPr/>
        </p:nvSpPr>
        <p:spPr>
          <a:xfrm>
            <a:off x="609600" y="3784600"/>
            <a:ext cx="2032000" cy="10922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3987800"/>
            <a:ext cx="1752600" cy="412750"/>
          </a:xfrm>
          <a:prstGeom prst="rect">
            <a:avLst/>
          </a:prstGeom>
          <a:noFill/>
        </p:spPr>
        <p:txBody>
          <a:bodyPr wrap="none" lIns="0" rIns="0" tIns="0" bIns="0">
            <a:spAutoFit/>
          </a:bodyPr>
          <a:lstStyle/>
          <a:p>
            <a:pPr>
              <a:lnSpc>
                <a:spcPts val="2850"/>
              </a:lnSpc>
              <a:spcBef>
                <a:spcPts val="0"/>
              </a:spcBef>
              <a:spcAft>
                <a:spcPts val="0"/>
              </a:spcAft>
              <a:defRPr sz="1900" b="0">
                <a:solidFill>
                  <a:srgbClr val="18794E"/>
                </a:solidFill>
                <a:latin typeface="IPAexGothic"/>
              </a:defRPr>
            </a:pPr>
            <a:r>
              <a:rPr>
                <a:ea typeface="IPAexGothic"/>
              </a:rPr>
              <a:t>受付停止</a:t>
            </a:r>
          </a:p>
        </p:txBody>
      </p:sp>
      <p:cxnSp>
        <p:nvCxnSpPr>
          <p:cNvPr id="14" name="Connector 13"/>
          <p:cNvCxnSpPr/>
          <p:nvPr/>
        </p:nvCxnSpPr>
        <p:spPr>
          <a:xfrm>
            <a:off x="2654300" y="4330700"/>
            <a:ext cx="1651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30237" y="4330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730237" y="4281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844800" y="3784600"/>
            <a:ext cx="2032000" cy="10922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97200" y="3987800"/>
            <a:ext cx="1752600" cy="774700"/>
          </a:xfrm>
          <a:prstGeom prst="rect">
            <a:avLst/>
          </a:prstGeom>
          <a:noFill/>
        </p:spPr>
        <p:txBody>
          <a:bodyPr wrap="none" lIns="0" rIns="0" tIns="0" bIns="0">
            <a:spAutoFit/>
          </a:bodyPr>
          <a:lstStyle/>
          <a:p>
            <a:pPr>
              <a:lnSpc>
                <a:spcPts val="2850"/>
              </a:lnSpc>
              <a:spcBef>
                <a:spcPts val="0"/>
              </a:spcBef>
              <a:spcAft>
                <a:spcPts val="0"/>
              </a:spcAft>
              <a:defRPr sz="1900" b="0">
                <a:solidFill>
                  <a:srgbClr val="18794E"/>
                </a:solidFill>
                <a:latin typeface="IPAexGothic"/>
              </a:defRPr>
            </a:pPr>
            <a:r>
              <a:rPr>
                <a:ea typeface="IPAexGothic"/>
              </a:rPr>
              <a:t>DBとキュー</a:t>
            </a:r>
          </a:p>
          <a:p>
            <a:pPr>
              <a:lnSpc>
                <a:spcPts val="2850"/>
              </a:lnSpc>
              <a:spcBef>
                <a:spcPts val="0"/>
              </a:spcBef>
              <a:spcAft>
                <a:spcPts val="0"/>
              </a:spcAft>
              <a:defRPr sz="1900" b="0">
                <a:solidFill>
                  <a:srgbClr val="18794E"/>
                </a:solidFill>
                <a:latin typeface="IPAexGothic"/>
              </a:defRPr>
            </a:pPr>
            <a:r>
              <a:rPr>
                <a:ea typeface="IPAexGothic"/>
              </a:rPr>
              <a:t>を排出</a:t>
            </a:r>
          </a:p>
        </p:txBody>
      </p:sp>
      <p:cxnSp>
        <p:nvCxnSpPr>
          <p:cNvPr id="19" name="Connector 18"/>
          <p:cNvCxnSpPr/>
          <p:nvPr/>
        </p:nvCxnSpPr>
        <p:spPr>
          <a:xfrm>
            <a:off x="4889500" y="4330700"/>
            <a:ext cx="1651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4965437" y="4330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965437" y="4281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080000" y="3784600"/>
            <a:ext cx="2032000" cy="10922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32400" y="3987800"/>
            <a:ext cx="1752600" cy="774700"/>
          </a:xfrm>
          <a:prstGeom prst="rect">
            <a:avLst/>
          </a:prstGeom>
          <a:noFill/>
        </p:spPr>
        <p:txBody>
          <a:bodyPr wrap="none" lIns="0" rIns="0" tIns="0" bIns="0">
            <a:spAutoFit/>
          </a:bodyPr>
          <a:lstStyle/>
          <a:p>
            <a:pPr>
              <a:lnSpc>
                <a:spcPts val="2850"/>
              </a:lnSpc>
              <a:spcBef>
                <a:spcPts val="0"/>
              </a:spcBef>
              <a:spcAft>
                <a:spcPts val="0"/>
              </a:spcAft>
              <a:defRPr sz="1900" b="0">
                <a:solidFill>
                  <a:srgbClr val="18794E"/>
                </a:solidFill>
                <a:latin typeface="IPAexGothic"/>
              </a:defRPr>
            </a:pPr>
            <a:r>
              <a:rPr>
                <a:ea typeface="IPAexGothic"/>
              </a:rPr>
              <a:t>配布と</a:t>
            </a:r>
          </a:p>
          <a:p>
            <a:pPr>
              <a:lnSpc>
                <a:spcPts val="2850"/>
              </a:lnSpc>
              <a:spcBef>
                <a:spcPts val="0"/>
              </a:spcBef>
              <a:spcAft>
                <a:spcPts val="0"/>
              </a:spcAft>
              <a:defRPr sz="1900" b="0">
                <a:solidFill>
                  <a:srgbClr val="18794E"/>
                </a:solidFill>
                <a:latin typeface="IPAexGothic"/>
              </a:defRPr>
            </a:pPr>
            <a:r>
              <a:rPr>
                <a:ea typeface="IPAexGothic"/>
              </a:rPr>
              <a:t>実機検証</a:t>
            </a:r>
          </a:p>
        </p:txBody>
      </p:sp>
      <p:cxnSp>
        <p:nvCxnSpPr>
          <p:cNvPr id="24" name="Connector 23"/>
          <p:cNvCxnSpPr/>
          <p:nvPr/>
        </p:nvCxnSpPr>
        <p:spPr>
          <a:xfrm>
            <a:off x="7124700" y="4330700"/>
            <a:ext cx="1651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200637" y="4330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200637" y="4281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15200" y="3784600"/>
            <a:ext cx="2032000" cy="10922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67600" y="3987800"/>
            <a:ext cx="1752600" cy="774700"/>
          </a:xfrm>
          <a:prstGeom prst="rect">
            <a:avLst/>
          </a:prstGeom>
          <a:noFill/>
        </p:spPr>
        <p:txBody>
          <a:bodyPr wrap="none" lIns="0" rIns="0" tIns="0" bIns="0">
            <a:spAutoFit/>
          </a:bodyPr>
          <a:lstStyle/>
          <a:p>
            <a:pPr>
              <a:lnSpc>
                <a:spcPts val="2850"/>
              </a:lnSpc>
              <a:spcBef>
                <a:spcPts val="0"/>
              </a:spcBef>
              <a:spcAft>
                <a:spcPts val="0"/>
              </a:spcAft>
              <a:defRPr sz="1900" b="0">
                <a:solidFill>
                  <a:srgbClr val="18794E"/>
                </a:solidFill>
                <a:latin typeface="IPAexGothic"/>
              </a:defRPr>
            </a:pPr>
            <a:r>
              <a:rPr>
                <a:ea typeface="IPAexGothic"/>
              </a:rPr>
              <a:t>設定同期と</a:t>
            </a:r>
          </a:p>
          <a:p>
            <a:pPr>
              <a:lnSpc>
                <a:spcPts val="2850"/>
              </a:lnSpc>
              <a:spcBef>
                <a:spcPts val="0"/>
              </a:spcBef>
              <a:spcAft>
                <a:spcPts val="0"/>
              </a:spcAft>
              <a:defRPr sz="1900" b="0">
                <a:solidFill>
                  <a:srgbClr val="18794E"/>
                </a:solidFill>
                <a:latin typeface="IPAexGothic"/>
              </a:defRPr>
            </a:pPr>
            <a:r>
              <a:rPr>
                <a:ea typeface="IPAexGothic"/>
              </a:rPr>
              <a:t>受付再開</a:t>
            </a:r>
          </a:p>
        </p:txBody>
      </p:sp>
      <p:cxnSp>
        <p:nvCxnSpPr>
          <p:cNvPr id="29" name="Connector 28"/>
          <p:cNvCxnSpPr/>
          <p:nvPr/>
        </p:nvCxnSpPr>
        <p:spPr>
          <a:xfrm>
            <a:off x="9359900" y="4330700"/>
            <a:ext cx="165100" cy="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9435837" y="4330700"/>
            <a:ext cx="89163" cy="48709"/>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9435837" y="4281990"/>
            <a:ext cx="89163" cy="48710"/>
          </a:xfrm>
          <a:prstGeom prst="line">
            <a:avLst/>
          </a:prstGeom>
          <a:ln w="19050">
            <a:solidFill>
              <a:srgbClr val="18794E"/>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550400" y="3784600"/>
            <a:ext cx="2032000" cy="10922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02800" y="3987800"/>
            <a:ext cx="1752600" cy="774700"/>
          </a:xfrm>
          <a:prstGeom prst="rect">
            <a:avLst/>
          </a:prstGeom>
          <a:noFill/>
        </p:spPr>
        <p:txBody>
          <a:bodyPr wrap="none" lIns="0" rIns="0" tIns="0" bIns="0">
            <a:spAutoFit/>
          </a:bodyPr>
          <a:lstStyle/>
          <a:p>
            <a:pPr>
              <a:lnSpc>
                <a:spcPts val="2850"/>
              </a:lnSpc>
              <a:spcBef>
                <a:spcPts val="0"/>
              </a:spcBef>
              <a:spcAft>
                <a:spcPts val="0"/>
              </a:spcAft>
              <a:defRPr sz="1900" b="0">
                <a:solidFill>
                  <a:srgbClr val="18794E"/>
                </a:solidFill>
                <a:latin typeface="IPAexGothic"/>
              </a:defRPr>
            </a:pPr>
            <a:r>
              <a:rPr>
                <a:ea typeface="IPAexGothic"/>
              </a:rPr>
              <a:t>本番提出</a:t>
            </a:r>
          </a:p>
          <a:p>
            <a:pPr>
              <a:lnSpc>
                <a:spcPts val="2850"/>
              </a:lnSpc>
              <a:spcBef>
                <a:spcPts val="0"/>
              </a:spcBef>
              <a:spcAft>
                <a:spcPts val="0"/>
              </a:spcAft>
              <a:defRPr sz="1900" b="0">
                <a:solidFill>
                  <a:srgbClr val="18794E"/>
                </a:solidFill>
                <a:latin typeface="IPAexGothic"/>
              </a:defRPr>
            </a:pPr>
            <a:r>
              <a:rPr>
                <a:ea typeface="IPAexGothic"/>
              </a:rPr>
              <a:t>を検証</a:t>
            </a:r>
          </a:p>
        </p:txBody>
      </p:sp>
      <p:sp>
        <p:nvSpPr>
          <p:cNvPr id="34" name="TextBox 33"/>
          <p:cNvSpPr txBox="1"/>
          <p:nvPr/>
        </p:nvSpPr>
        <p:spPr>
          <a:xfrm>
            <a:off x="609600" y="5397500"/>
            <a:ext cx="109728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92431"/>
                </a:solidFill>
                <a:latin typeface="IPAexGothic"/>
              </a:defRPr>
            </a:pPr>
            <a:r>
              <a:rPr>
                <a:ea typeface="IPAexGothic"/>
              </a:rPr>
              <a:t>完了条件：state.json の status: passed / step: complete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14  TRADE-OFFS</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設計上の選択と、現在の制約</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15 / 17</a:t>
            </a:r>
          </a:p>
        </p:txBody>
      </p:sp>
      <p:sp>
        <p:nvSpPr>
          <p:cNvPr id="8" name="TextBox 7"/>
          <p:cNvSpPr txBox="1"/>
          <p:nvPr/>
        </p:nvSpPr>
        <p:spPr>
          <a:xfrm>
            <a:off x="609600" y="1816100"/>
            <a:ext cx="4254500" cy="299720"/>
          </a:xfrm>
          <a:prstGeom prst="rect">
            <a:avLst/>
          </a:prstGeom>
          <a:noFill/>
        </p:spPr>
        <p:txBody>
          <a:bodyPr wrap="none" lIns="0" rIns="0" tIns="0" bIns="0">
            <a:spAutoFit/>
          </a:bodyPr>
          <a:lstStyle/>
          <a:p>
            <a:pPr>
              <a:lnSpc>
                <a:spcPts val="1959"/>
              </a:lnSpc>
              <a:spcBef>
                <a:spcPts val="0"/>
              </a:spcBef>
              <a:spcAft>
                <a:spcPts val="0"/>
              </a:spcAft>
              <a:defRPr sz="1400" b="0">
                <a:solidFill>
                  <a:srgbClr val="65717C"/>
                </a:solidFill>
                <a:latin typeface="IPAexGothic"/>
              </a:defRPr>
            </a:pPr>
            <a:r>
              <a:rPr>
                <a:ea typeface="IPAexGothic"/>
              </a:rPr>
              <a:t>採用した構成</a:t>
            </a:r>
          </a:p>
        </p:txBody>
      </p:sp>
      <p:sp>
        <p:nvSpPr>
          <p:cNvPr id="9" name="TextBox 8"/>
          <p:cNvSpPr txBox="1"/>
          <p:nvPr/>
        </p:nvSpPr>
        <p:spPr>
          <a:xfrm>
            <a:off x="5257800" y="1816100"/>
            <a:ext cx="6324600" cy="299720"/>
          </a:xfrm>
          <a:prstGeom prst="rect">
            <a:avLst/>
          </a:prstGeom>
          <a:noFill/>
        </p:spPr>
        <p:txBody>
          <a:bodyPr wrap="none" lIns="0" rIns="0" tIns="0" bIns="0">
            <a:spAutoFit/>
          </a:bodyPr>
          <a:lstStyle/>
          <a:p>
            <a:pPr>
              <a:lnSpc>
                <a:spcPts val="1959"/>
              </a:lnSpc>
              <a:spcBef>
                <a:spcPts val="0"/>
              </a:spcBef>
              <a:spcAft>
                <a:spcPts val="0"/>
              </a:spcAft>
              <a:defRPr sz="1400" b="0">
                <a:solidFill>
                  <a:srgbClr val="65717C"/>
                </a:solidFill>
                <a:latin typeface="IPAexGothic"/>
              </a:defRPr>
            </a:pPr>
            <a:r>
              <a:rPr>
                <a:ea typeface="IPAexGothic"/>
              </a:rPr>
              <a:t>運用で考慮すること</a:t>
            </a:r>
          </a:p>
        </p:txBody>
      </p:sp>
      <p:cxnSp>
        <p:nvCxnSpPr>
          <p:cNvPr id="10" name="Connector 9"/>
          <p:cNvCxnSpPr/>
          <p:nvPr/>
        </p:nvCxnSpPr>
        <p:spPr>
          <a:xfrm>
            <a:off x="609600" y="22860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2438400"/>
            <a:ext cx="44577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8794E"/>
                </a:solidFill>
                <a:latin typeface="IPAexGothic"/>
              </a:defRPr>
            </a:pPr>
            <a:r>
              <a:rPr>
                <a:ea typeface="IPAexGothic"/>
              </a:rPr>
              <a:t>Lightsail + isolate</a:t>
            </a:r>
          </a:p>
        </p:txBody>
      </p:sp>
      <p:sp>
        <p:nvSpPr>
          <p:cNvPr id="12" name="TextBox 11"/>
          <p:cNvSpPr txBox="1"/>
          <p:nvPr/>
        </p:nvSpPr>
        <p:spPr>
          <a:xfrm>
            <a:off x="5257800" y="2463800"/>
            <a:ext cx="63246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共有カーネル。CPU負荷で計測値が変動し得る。</a:t>
            </a:r>
          </a:p>
        </p:txBody>
      </p:sp>
      <p:cxnSp>
        <p:nvCxnSpPr>
          <p:cNvPr id="13" name="Connector 12"/>
          <p:cNvCxnSpPr/>
          <p:nvPr/>
        </p:nvCxnSpPr>
        <p:spPr>
          <a:xfrm>
            <a:off x="609600" y="31877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3340100"/>
            <a:ext cx="44577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8794E"/>
                </a:solidFill>
                <a:latin typeface="IPAexGothic"/>
              </a:defRPr>
            </a:pPr>
            <a:r>
              <a:rPr>
                <a:ea typeface="IPAexGothic"/>
              </a:rPr>
              <a:t>2台で要求キューを共有</a:t>
            </a:r>
          </a:p>
        </p:txBody>
      </p:sp>
      <p:sp>
        <p:nvSpPr>
          <p:cNvPr id="15" name="TextBox 14"/>
          <p:cNvSpPr txBox="1"/>
          <p:nvPr/>
        </p:nvSpPr>
        <p:spPr>
          <a:xfrm>
            <a:off x="5257800" y="3365500"/>
            <a:ext cx="63246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最大2提出を同時採点。更新時は受付を停止。</a:t>
            </a:r>
          </a:p>
        </p:txBody>
      </p:sp>
      <p:cxnSp>
        <p:nvCxnSpPr>
          <p:cNvPr id="16" name="Connector 15"/>
          <p:cNvCxnSpPr/>
          <p:nvPr/>
        </p:nvCxnSpPr>
        <p:spPr>
          <a:xfrm>
            <a:off x="609600" y="40894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4241800"/>
            <a:ext cx="44577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8794E"/>
                </a:solidFill>
                <a:latin typeface="IPAexGothic"/>
              </a:defRPr>
            </a:pPr>
            <a:r>
              <a:rPr>
                <a:ea typeface="IPAexGothic"/>
              </a:rPr>
              <a:t>RDS PostgreSQL</a:t>
            </a:r>
          </a:p>
        </p:txBody>
      </p:sp>
      <p:sp>
        <p:nvSpPr>
          <p:cNvPr id="18" name="TextBox 17"/>
          <p:cNvSpPr txBox="1"/>
          <p:nvPr/>
        </p:nvSpPr>
        <p:spPr>
          <a:xfrm>
            <a:off x="5257800" y="4267200"/>
            <a:ext cx="63246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設定はSingle-AZ。自動フェイルオーバーなし。</a:t>
            </a:r>
          </a:p>
        </p:txBody>
      </p:sp>
      <p:cxnSp>
        <p:nvCxnSpPr>
          <p:cNvPr id="19" name="Connector 18"/>
          <p:cNvCxnSpPr/>
          <p:nvPr/>
        </p:nvCxnSpPr>
        <p:spPr>
          <a:xfrm>
            <a:off x="609600" y="499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5143500"/>
            <a:ext cx="4457700" cy="424180"/>
          </a:xfrm>
          <a:prstGeom prst="rect">
            <a:avLst/>
          </a:prstGeom>
          <a:noFill/>
        </p:spPr>
        <p:txBody>
          <a:bodyPr wrap="none" lIns="0" rIns="0" tIns="0" bIns="0">
            <a:spAutoFit/>
          </a:bodyPr>
          <a:lstStyle/>
          <a:p>
            <a:pPr>
              <a:lnSpc>
                <a:spcPts val="2940"/>
              </a:lnSpc>
              <a:spcBef>
                <a:spcPts val="0"/>
              </a:spcBef>
              <a:spcAft>
                <a:spcPts val="0"/>
              </a:spcAft>
              <a:defRPr sz="2100" b="0">
                <a:solidFill>
                  <a:srgbClr val="18794E"/>
                </a:solidFill>
                <a:latin typeface="IPAexGothic"/>
              </a:defRPr>
            </a:pPr>
            <a:r>
              <a:rPr>
                <a:ea typeface="IPAexGothic"/>
              </a:rPr>
              <a:t>runtime digestで条件を識別</a:t>
            </a:r>
          </a:p>
        </p:txBody>
      </p:sp>
      <p:sp>
        <p:nvSpPr>
          <p:cNvPr id="21" name="TextBox 20"/>
          <p:cNvSpPr txBox="1"/>
          <p:nvPr/>
        </p:nvSpPr>
        <p:spPr>
          <a:xfrm>
            <a:off x="5257800" y="5168900"/>
            <a:ext cx="6324600" cy="353059"/>
          </a:xfrm>
          <a:prstGeom prst="rect">
            <a:avLst/>
          </a:prstGeom>
          <a:noFill/>
        </p:spPr>
        <p:txBody>
          <a:bodyPr wrap="none" lIns="0" rIns="0" tIns="0" bIns="0">
            <a:spAutoFit/>
          </a:bodyPr>
          <a:lstStyle/>
          <a:p>
            <a:pPr>
              <a:lnSpc>
                <a:spcPts val="2379"/>
              </a:lnSpc>
              <a:spcBef>
                <a:spcPts val="0"/>
              </a:spcBef>
              <a:spcAft>
                <a:spcPts val="0"/>
              </a:spcAft>
              <a:defRPr sz="1700" b="0">
                <a:solidFill>
                  <a:srgbClr val="192431"/>
                </a:solidFill>
                <a:latin typeface="IPAexGothic"/>
              </a:defRPr>
            </a:pPr>
            <a:r>
              <a:rPr>
                <a:ea typeface="IPAexGothic"/>
              </a:rPr>
              <a:t>過去の実行環境を保存する仕組みは未実装。</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57E3A0"/>
                </a:solidFill>
                <a:latin typeface="IPAexGothic"/>
              </a:defRPr>
            </a:pPr>
            <a:r>
              <a:rPr>
                <a:ea typeface="IPAexGothic"/>
              </a:rPr>
              <a:t>15  SHAREOJ</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FFFFFF"/>
                </a:solidFill>
                <a:latin typeface="IPAexGothic"/>
              </a:defRPr>
            </a:pPr>
            <a:r>
              <a:rPr>
                <a:ea typeface="IPAexGothic"/>
              </a:rPr>
              <a:t>考える楽しさを、次の一問へ。</a:t>
            </a:r>
          </a:p>
        </p:txBody>
      </p:sp>
      <p:cxnSp>
        <p:nvCxnSpPr>
          <p:cNvPr id="5" name="Connector 4"/>
          <p:cNvCxnSpPr/>
          <p:nvPr/>
        </p:nvCxnSpPr>
        <p:spPr>
          <a:xfrm>
            <a:off x="609600" y="6261100"/>
            <a:ext cx="10972800" cy="0"/>
          </a:xfrm>
          <a:prstGeom prst="line">
            <a:avLst/>
          </a:prstGeom>
          <a:ln w="12700">
            <a:solidFill>
              <a:srgbClr val="3D495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B7C7BF"/>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B7C7BF"/>
                </a:solidFill>
                <a:latin typeface="IPAexGothic"/>
              </a:defRPr>
            </a:pPr>
            <a:r>
              <a:rPr>
                <a:ea typeface="IPAexGothic"/>
              </a:rPr>
              <a:t>16 / 17</a:t>
            </a:r>
          </a:p>
        </p:txBody>
      </p:sp>
      <p:sp>
        <p:nvSpPr>
          <p:cNvPr id="8" name="TextBox 7"/>
          <p:cNvSpPr txBox="1"/>
          <p:nvPr/>
        </p:nvSpPr>
        <p:spPr>
          <a:xfrm>
            <a:off x="609600" y="2159000"/>
            <a:ext cx="10972800" cy="797560"/>
          </a:xfrm>
          <a:prstGeom prst="rect">
            <a:avLst/>
          </a:prstGeom>
          <a:noFill/>
        </p:spPr>
        <p:txBody>
          <a:bodyPr wrap="none" lIns="0" rIns="0" tIns="0" bIns="0">
            <a:spAutoFit/>
          </a:bodyPr>
          <a:lstStyle/>
          <a:p>
            <a:pPr>
              <a:lnSpc>
                <a:spcPts val="5880"/>
              </a:lnSpc>
              <a:spcBef>
                <a:spcPts val="0"/>
              </a:spcBef>
              <a:spcAft>
                <a:spcPts val="0"/>
              </a:spcAft>
              <a:defRPr sz="4200" b="1">
                <a:solidFill>
                  <a:srgbClr val="FFFFFF"/>
                </a:solidFill>
                <a:latin typeface="IPAexGothic"/>
              </a:defRPr>
            </a:pPr>
            <a:r>
              <a:rPr>
                <a:ea typeface="IPAexGothic"/>
              </a:rPr>
              <a:t>解く。作る。共有する。</a:t>
            </a:r>
          </a:p>
        </p:txBody>
      </p:sp>
      <p:sp>
        <p:nvSpPr>
          <p:cNvPr id="9" name="TextBox 8"/>
          <p:cNvSpPr txBox="1"/>
          <p:nvPr/>
        </p:nvSpPr>
        <p:spPr>
          <a:xfrm>
            <a:off x="609600" y="3225800"/>
            <a:ext cx="10972800" cy="459739"/>
          </a:xfrm>
          <a:prstGeom prst="rect">
            <a:avLst/>
          </a:prstGeom>
          <a:noFill/>
        </p:spPr>
        <p:txBody>
          <a:bodyPr wrap="none" lIns="0" rIns="0" tIns="0" bIns="0">
            <a:spAutoFit/>
          </a:bodyPr>
          <a:lstStyle/>
          <a:p>
            <a:pPr>
              <a:lnSpc>
                <a:spcPts val="3219"/>
              </a:lnSpc>
              <a:spcBef>
                <a:spcPts val="0"/>
              </a:spcBef>
              <a:spcAft>
                <a:spcPts val="0"/>
              </a:spcAft>
              <a:defRPr sz="2300" b="0">
                <a:solidFill>
                  <a:srgbClr val="C8D8D0"/>
                </a:solidFill>
                <a:latin typeface="IPAexGothic"/>
              </a:defRPr>
            </a:pPr>
            <a:r>
              <a:rPr>
                <a:ea typeface="IPAexGothic"/>
              </a:rPr>
              <a:t>問題と記事、コンテストをつなぐオンラインジャッジ。</a:t>
            </a:r>
          </a:p>
        </p:txBody>
      </p:sp>
      <p:sp>
        <p:nvSpPr>
          <p:cNvPr id="10" name="TextBox 9"/>
          <p:cNvSpPr txBox="1"/>
          <p:nvPr/>
        </p:nvSpPr>
        <p:spPr>
          <a:xfrm>
            <a:off x="609600" y="4089400"/>
            <a:ext cx="10972800" cy="965200"/>
          </a:xfrm>
          <a:prstGeom prst="rect">
            <a:avLst/>
          </a:prstGeom>
          <a:noFill/>
        </p:spPr>
        <p:txBody>
          <a:bodyPr wrap="none" lIns="0" rIns="0" tIns="0" bIns="0">
            <a:spAutoFit/>
          </a:bodyPr>
          <a:lstStyle/>
          <a:p>
            <a:pPr>
              <a:lnSpc>
                <a:spcPts val="3600"/>
              </a:lnSpc>
              <a:spcBef>
                <a:spcPts val="0"/>
              </a:spcBef>
              <a:spcAft>
                <a:spcPts val="0"/>
              </a:spcAft>
              <a:defRPr sz="2400" b="0">
                <a:solidFill>
                  <a:srgbClr val="57E3A0"/>
                </a:solidFill>
                <a:latin typeface="IPAexGothic"/>
              </a:defRPr>
            </a:pPr>
            <a:r>
              <a:rPr>
                <a:ea typeface="IPAexGothic"/>
              </a:rPr>
              <a:t>Nuxt + Go + PostgreSQL</a:t>
            </a:r>
          </a:p>
          <a:p>
            <a:pPr>
              <a:lnSpc>
                <a:spcPts val="3600"/>
              </a:lnSpc>
              <a:spcBef>
                <a:spcPts val="0"/>
              </a:spcBef>
              <a:spcAft>
                <a:spcPts val="0"/>
              </a:spcAft>
              <a:defRPr sz="2400" b="0">
                <a:solidFill>
                  <a:srgbClr val="57E3A0"/>
                </a:solidFill>
                <a:latin typeface="IPAexGothic"/>
              </a:defRPr>
            </a:pPr>
            <a:r>
              <a:rPr>
                <a:ea typeface="IPAexGothic"/>
              </a:rPr>
              <a:t>S3 / SQS + Lightsail / isolate</a:t>
            </a:r>
          </a:p>
        </p:txBody>
      </p:sp>
      <p:sp>
        <p:nvSpPr>
          <p:cNvPr id="11" name="TextBox 10"/>
          <p:cNvSpPr txBox="1"/>
          <p:nvPr/>
        </p:nvSpPr>
        <p:spPr>
          <a:xfrm>
            <a:off x="609600" y="5473700"/>
            <a:ext cx="5588000" cy="441959"/>
          </a:xfrm>
          <a:prstGeom prst="rect">
            <a:avLst/>
          </a:prstGeom>
          <a:noFill/>
        </p:spPr>
        <p:txBody>
          <a:bodyPr wrap="none" lIns="0" rIns="0" tIns="0" bIns="0">
            <a:spAutoFit/>
          </a:bodyPr>
          <a:lstStyle/>
          <a:p>
            <a:pPr>
              <a:lnSpc>
                <a:spcPts val="3079"/>
              </a:lnSpc>
              <a:spcBef>
                <a:spcPts val="0"/>
              </a:spcBef>
              <a:spcAft>
                <a:spcPts val="0"/>
              </a:spcAft>
              <a:defRPr sz="2200" b="0">
                <a:solidFill>
                  <a:srgbClr val="FFFFFF"/>
                </a:solidFill>
                <a:latin typeface="IPAexGothic"/>
              </a:defRPr>
            </a:pPr>
            <a:r>
              <a:rPr>
                <a:ea typeface="IPAexGothic"/>
                <a:hlinkClick r:id="rId3"/>
              </a:rPr>
              <a:t>www.share-oj.net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17500"/>
            <a:ext cx="10795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18794E"/>
                </a:solidFill>
                <a:latin typeface="IPAexGothic"/>
              </a:defRPr>
            </a:pPr>
            <a:r>
              <a:rPr>
                <a:ea typeface="IPAexGothic"/>
              </a:rPr>
              <a:t>APPENDIX  /  SOURCES</a:t>
            </a:r>
          </a:p>
        </p:txBody>
      </p:sp>
      <p:sp>
        <p:nvSpPr>
          <p:cNvPr id="4" name="TextBox 3"/>
          <p:cNvSpPr txBox="1"/>
          <p:nvPr/>
        </p:nvSpPr>
        <p:spPr>
          <a:xfrm>
            <a:off x="609600" y="825500"/>
            <a:ext cx="10795000" cy="584200"/>
          </a:xfrm>
          <a:prstGeom prst="rect">
            <a:avLst/>
          </a:prstGeom>
          <a:noFill/>
        </p:spPr>
        <p:txBody>
          <a:bodyPr wrap="none" lIns="0" rIns="0" tIns="0" bIns="0">
            <a:spAutoFit/>
          </a:bodyPr>
          <a:lstStyle/>
          <a:p>
            <a:pPr>
              <a:lnSpc>
                <a:spcPts val="4200"/>
              </a:lnSpc>
              <a:spcBef>
                <a:spcPts val="0"/>
              </a:spcBef>
              <a:spcAft>
                <a:spcPts val="0"/>
              </a:spcAft>
              <a:defRPr sz="3000" b="1">
                <a:solidFill>
                  <a:srgbClr val="192431"/>
                </a:solidFill>
                <a:latin typeface="IPAexGothic"/>
              </a:defRPr>
            </a:pPr>
            <a:r>
              <a:rPr>
                <a:ea typeface="IPAexGothic"/>
              </a:rPr>
              <a:t>参照資料と、このスライドの前提</a:t>
            </a:r>
          </a:p>
        </p:txBody>
      </p:sp>
      <p:cxnSp>
        <p:nvCxnSpPr>
          <p:cNvPr id="5" name="Connector 4"/>
          <p:cNvCxnSpPr/>
          <p:nvPr/>
        </p:nvCxnSpPr>
        <p:spPr>
          <a:xfrm>
            <a:off x="609600" y="6261100"/>
            <a:ext cx="10972800" cy="0"/>
          </a:xfrm>
          <a:prstGeom prst="line">
            <a:avLst/>
          </a:prstGeom>
          <a:ln w="12700">
            <a:solidFill>
              <a:srgbClr val="DCE3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600" y="6438900"/>
            <a:ext cx="7112000" cy="210820"/>
          </a:xfrm>
          <a:prstGeom prst="rect">
            <a:avLst/>
          </a:prstGeom>
          <a:noFill/>
        </p:spPr>
        <p:txBody>
          <a:bodyPr wrap="none" lIns="0" rIns="0" tIns="0" bIns="0">
            <a:spAutoFit/>
          </a:bodyPr>
          <a:lstStyle/>
          <a:p>
            <a:pPr>
              <a:lnSpc>
                <a:spcPts val="1260"/>
              </a:lnSpc>
              <a:spcBef>
                <a:spcPts val="0"/>
              </a:spcBef>
              <a:spcAft>
                <a:spcPts val="0"/>
              </a:spcAft>
              <a:defRPr sz="900" b="0">
                <a:solidFill>
                  <a:srgbClr val="65717C"/>
                </a:solidFill>
                <a:latin typeface="IPAexGothic"/>
              </a:defRPr>
            </a:pPr>
            <a:r>
              <a:rPr>
                <a:ea typeface="IPAexGothic"/>
              </a:rPr>
              <a:t>ShareOJ  /  Product &amp; Engineering</a:t>
            </a:r>
          </a:p>
        </p:txBody>
      </p:sp>
      <p:sp>
        <p:nvSpPr>
          <p:cNvPr id="7" name="TextBox 6"/>
          <p:cNvSpPr txBox="1"/>
          <p:nvPr/>
        </p:nvSpPr>
        <p:spPr>
          <a:xfrm>
            <a:off x="10731500" y="6413500"/>
            <a:ext cx="889000" cy="246379"/>
          </a:xfrm>
          <a:prstGeom prst="rect">
            <a:avLst/>
          </a:prstGeom>
          <a:noFill/>
        </p:spPr>
        <p:txBody>
          <a:bodyPr wrap="none" lIns="0" rIns="0" tIns="0" bIns="0">
            <a:spAutoFit/>
          </a:bodyPr>
          <a:lstStyle/>
          <a:p>
            <a:pPr>
              <a:lnSpc>
                <a:spcPts val="1539"/>
              </a:lnSpc>
              <a:spcBef>
                <a:spcPts val="0"/>
              </a:spcBef>
              <a:spcAft>
                <a:spcPts val="0"/>
              </a:spcAft>
              <a:defRPr sz="1100" b="0">
                <a:solidFill>
                  <a:srgbClr val="65717C"/>
                </a:solidFill>
                <a:latin typeface="IPAexGothic"/>
              </a:defRPr>
            </a:pPr>
            <a:r>
              <a:rPr>
                <a:ea typeface="IPAexGothic"/>
              </a:rPr>
              <a:t>17 / 17</a:t>
            </a:r>
          </a:p>
        </p:txBody>
      </p:sp>
      <p:sp>
        <p:nvSpPr>
          <p:cNvPr id="8" name="TextBox 7"/>
          <p:cNvSpPr txBox="1"/>
          <p:nvPr/>
        </p:nvSpPr>
        <p:spPr>
          <a:xfrm>
            <a:off x="609600" y="1828800"/>
            <a:ext cx="30480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8794E"/>
                </a:solidFill>
                <a:latin typeface="IPAexGothic"/>
              </a:defRPr>
            </a:pPr>
            <a:r>
              <a:rPr>
                <a:ea typeface="IPAexGothic"/>
              </a:rPr>
              <a:t>概要と利用体験</a:t>
            </a:r>
          </a:p>
        </p:txBody>
      </p:sp>
      <p:sp>
        <p:nvSpPr>
          <p:cNvPr id="9" name="TextBox 8"/>
          <p:cNvSpPr txBox="1"/>
          <p:nvPr/>
        </p:nvSpPr>
        <p:spPr>
          <a:xfrm>
            <a:off x="3937000" y="1854200"/>
            <a:ext cx="76454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92431"/>
                </a:solidFill>
                <a:latin typeface="IPAexGothic"/>
              </a:defRPr>
            </a:pPr>
            <a:r>
              <a:rPr>
                <a:ea typeface="IPAexGothic"/>
              </a:rPr>
              <a:t>README.md / web/app/pages/</a:t>
            </a:r>
          </a:p>
        </p:txBody>
      </p:sp>
      <p:sp>
        <p:nvSpPr>
          <p:cNvPr id="10" name="TextBox 9"/>
          <p:cNvSpPr txBox="1"/>
          <p:nvPr/>
        </p:nvSpPr>
        <p:spPr>
          <a:xfrm>
            <a:off x="609600" y="2527300"/>
            <a:ext cx="30480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8794E"/>
                </a:solidFill>
                <a:latin typeface="IPAexGothic"/>
              </a:defRPr>
            </a:pPr>
            <a:r>
              <a:rPr>
                <a:ea typeface="IPAexGothic"/>
              </a:rPr>
              <a:t>WebとAPI</a:t>
            </a:r>
          </a:p>
        </p:txBody>
      </p:sp>
      <p:sp>
        <p:nvSpPr>
          <p:cNvPr id="11" name="TextBox 10"/>
          <p:cNvSpPr txBox="1"/>
          <p:nvPr/>
        </p:nvSpPr>
        <p:spPr>
          <a:xfrm>
            <a:off x="3937000" y="2552700"/>
            <a:ext cx="76454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92431"/>
                </a:solidFill>
                <a:latin typeface="IPAexGothic"/>
              </a:defRPr>
            </a:pPr>
            <a:r>
              <a:rPr>
                <a:ea typeface="IPAexGothic"/>
              </a:rPr>
              <a:t>web/README.md / api/README.md / infra/README.md</a:t>
            </a:r>
          </a:p>
        </p:txBody>
      </p:sp>
      <p:sp>
        <p:nvSpPr>
          <p:cNvPr id="12" name="TextBox 11"/>
          <p:cNvSpPr txBox="1"/>
          <p:nvPr/>
        </p:nvSpPr>
        <p:spPr>
          <a:xfrm>
            <a:off x="609600" y="3225800"/>
            <a:ext cx="30480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8794E"/>
                </a:solidFill>
                <a:latin typeface="IPAexGothic"/>
              </a:defRPr>
            </a:pPr>
            <a:r>
              <a:rPr>
                <a:ea typeface="IPAexGothic"/>
              </a:rPr>
              <a:t>配送と結果反映</a:t>
            </a:r>
          </a:p>
        </p:txBody>
      </p:sp>
      <p:sp>
        <p:nvSpPr>
          <p:cNvPr id="13" name="TextBox 12"/>
          <p:cNvSpPr txBox="1"/>
          <p:nvPr/>
        </p:nvSpPr>
        <p:spPr>
          <a:xfrm>
            <a:off x="3937000" y="3251200"/>
            <a:ext cx="76454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92431"/>
                </a:solidFill>
                <a:latin typeface="IPAexGothic"/>
              </a:defRPr>
            </a:pPr>
            <a:r>
              <a:rPr>
                <a:ea typeface="IPAexGothic"/>
              </a:rPr>
              <a:t>api/cmd/judge-bridge/ / api/internal/submissions/</a:t>
            </a:r>
          </a:p>
        </p:txBody>
      </p:sp>
      <p:sp>
        <p:nvSpPr>
          <p:cNvPr id="14" name="TextBox 13"/>
          <p:cNvSpPr txBox="1"/>
          <p:nvPr/>
        </p:nvSpPr>
        <p:spPr>
          <a:xfrm>
            <a:off x="609600" y="3924300"/>
            <a:ext cx="30480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8794E"/>
                </a:solidFill>
                <a:latin typeface="IPAexGothic"/>
              </a:defRPr>
            </a:pPr>
            <a:r>
              <a:rPr>
                <a:ea typeface="IPAexGothic"/>
              </a:rPr>
              <a:t>採点と隔離</a:t>
            </a:r>
          </a:p>
        </p:txBody>
      </p:sp>
      <p:sp>
        <p:nvSpPr>
          <p:cNvPr id="15" name="TextBox 14"/>
          <p:cNvSpPr txBox="1"/>
          <p:nvPr/>
        </p:nvSpPr>
        <p:spPr>
          <a:xfrm>
            <a:off x="3937000" y="3949700"/>
            <a:ext cx="76454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92431"/>
                </a:solidFill>
                <a:latin typeface="IPAexGothic"/>
              </a:defRPr>
            </a:pPr>
            <a:r>
              <a:rPr>
                <a:ea typeface="IPAexGothic"/>
              </a:rPr>
              <a:t>judge/README.md / docs/judge/runtime-policy.md</a:t>
            </a:r>
          </a:p>
        </p:txBody>
      </p:sp>
      <p:sp>
        <p:nvSpPr>
          <p:cNvPr id="16" name="TextBox 15"/>
          <p:cNvSpPr txBox="1"/>
          <p:nvPr/>
        </p:nvSpPr>
        <p:spPr>
          <a:xfrm>
            <a:off x="609600" y="4622800"/>
            <a:ext cx="3048000" cy="388620"/>
          </a:xfrm>
          <a:prstGeom prst="rect">
            <a:avLst/>
          </a:prstGeom>
          <a:noFill/>
        </p:spPr>
        <p:txBody>
          <a:bodyPr wrap="none" lIns="0" rIns="0" tIns="0" bIns="0">
            <a:spAutoFit/>
          </a:bodyPr>
          <a:lstStyle/>
          <a:p>
            <a:pPr>
              <a:lnSpc>
                <a:spcPts val="2660"/>
              </a:lnSpc>
              <a:spcBef>
                <a:spcPts val="0"/>
              </a:spcBef>
              <a:spcAft>
                <a:spcPts val="0"/>
              </a:spcAft>
              <a:defRPr sz="1900" b="0">
                <a:solidFill>
                  <a:srgbClr val="18794E"/>
                </a:solidFill>
                <a:latin typeface="IPAexGothic"/>
              </a:defRPr>
            </a:pPr>
            <a:r>
              <a:rPr>
                <a:ea typeface="IPAexGothic"/>
              </a:rPr>
              <a:t>公開と検証</a:t>
            </a:r>
          </a:p>
        </p:txBody>
      </p:sp>
      <p:sp>
        <p:nvSpPr>
          <p:cNvPr id="17" name="TextBox 16"/>
          <p:cNvSpPr txBox="1"/>
          <p:nvPr/>
        </p:nvSpPr>
        <p:spPr>
          <a:xfrm>
            <a:off x="3937000" y="4648200"/>
            <a:ext cx="7645400" cy="281940"/>
          </a:xfrm>
          <a:prstGeom prst="rect">
            <a:avLst/>
          </a:prstGeom>
          <a:noFill/>
        </p:spPr>
        <p:txBody>
          <a:bodyPr wrap="none" lIns="0" rIns="0" tIns="0" bIns="0">
            <a:spAutoFit/>
          </a:bodyPr>
          <a:lstStyle/>
          <a:p>
            <a:pPr>
              <a:lnSpc>
                <a:spcPts val="1820"/>
              </a:lnSpc>
              <a:spcBef>
                <a:spcPts val="0"/>
              </a:spcBef>
              <a:spcAft>
                <a:spcPts val="0"/>
              </a:spcAft>
              <a:defRPr sz="1300" b="0">
                <a:solidFill>
                  <a:srgbClr val="192431"/>
                </a:solidFill>
                <a:latin typeface="IPAexGothic"/>
              </a:defRPr>
            </a:pPr>
            <a:r>
              <a:rPr>
                <a:ea typeface="IPAexGothic"/>
              </a:rPr>
              <a:t>docs/judge/deployment-checks.md / .github/workflows/ci.yml</a:t>
            </a:r>
          </a:p>
        </p:txBody>
      </p:sp>
      <p:sp>
        <p:nvSpPr>
          <p:cNvPr id="18" name="TextBox 17"/>
          <p:cNvSpPr txBox="1"/>
          <p:nvPr/>
        </p:nvSpPr>
        <p:spPr>
          <a:xfrm>
            <a:off x="609600" y="5499100"/>
            <a:ext cx="10972800" cy="584200"/>
          </a:xfrm>
          <a:prstGeom prst="rect">
            <a:avLst/>
          </a:prstGeom>
          <a:noFill/>
        </p:spPr>
        <p:txBody>
          <a:bodyPr wrap="none" lIns="0" rIns="0" tIns="0" bIns="0">
            <a:spAutoFit/>
          </a:bodyPr>
          <a:lstStyle/>
          <a:p>
            <a:pPr>
              <a:lnSpc>
                <a:spcPts val="2100"/>
              </a:lnSpc>
              <a:spcBef>
                <a:spcPts val="0"/>
              </a:spcBef>
              <a:spcAft>
                <a:spcPts val="0"/>
              </a:spcAft>
              <a:defRPr sz="1400" b="0">
                <a:solidFill>
                  <a:srgbClr val="65717C"/>
                </a:solidFill>
                <a:latin typeface="IPAexGothic"/>
              </a:defRPr>
            </a:pPr>
            <a:r>
              <a:rPr>
                <a:ea typeface="IPAexGothic"/>
              </a:rPr>
              <a:t>基準：2026-09-22 / repository c59a2e1</a:t>
            </a:r>
          </a:p>
          <a:p>
            <a:pPr>
              <a:lnSpc>
                <a:spcPts val="2100"/>
              </a:lnSpc>
              <a:spcBef>
                <a:spcPts val="0"/>
              </a:spcBef>
              <a:spcAft>
                <a:spcPts val="0"/>
              </a:spcAft>
              <a:defRPr sz="1400" b="0">
                <a:solidFill>
                  <a:srgbClr val="65717C"/>
                </a:solidFill>
                <a:latin typeface="IPAexGothic"/>
              </a:defRPr>
            </a:pPr>
            <a:r>
              <a:rPr>
                <a:ea typeface="IPAexGothic"/>
              </a:rPr>
              <a:t>本番環境の再検証、利用実績や性能の測定は本資料の対象外。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ShareOJ | プロダクト概要と技術構成</dc:title>
  <dc:subject>エンジニア向け紹介 / 2026-09-22 / repository c59a2e1</dc:subject>
  <dc:creator>ShareOJ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